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ikey Mugshot" charset="1" panose="02000506000000020004"/>
      <p:regular r:id="rId17"/>
    </p:embeddedFont>
    <p:embeddedFont>
      <p:font typeface="More Sugar" charset="1" panose="00000000000000000000"/>
      <p:regular r:id="rId18"/>
    </p:embeddedFont>
    <p:embeddedFont>
      <p:font typeface="Lazydog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12" Target="../media/image27.png" Type="http://schemas.openxmlformats.org/officeDocument/2006/relationships/image"/><Relationship Id="rId13" Target="../media/image28.png" Type="http://schemas.openxmlformats.org/officeDocument/2006/relationships/image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56430" y="3368674"/>
            <a:ext cx="14175140" cy="431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0"/>
              </a:lnSpc>
            </a:pPr>
            <a:r>
              <a:rPr lang="en-US" sz="20000">
                <a:solidFill>
                  <a:srgbClr val="E993B9"/>
                </a:solidFill>
                <a:latin typeface="Mikey Mugshot"/>
                <a:ea typeface="Mikey Mugshot"/>
                <a:cs typeface="Mikey Mugshot"/>
                <a:sym typeface="Mikey Mugshot"/>
              </a:rPr>
              <a:t>Evidencias de sostenibilidad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091694" y="-937128"/>
            <a:ext cx="3931655" cy="3931655"/>
          </a:xfrm>
          <a:custGeom>
            <a:avLst/>
            <a:gdLst/>
            <a:ahLst/>
            <a:cxnLst/>
            <a:rect r="r" b="b" t="t" l="l"/>
            <a:pathLst>
              <a:path h="3931655" w="3931655">
                <a:moveTo>
                  <a:pt x="0" y="0"/>
                </a:moveTo>
                <a:lnTo>
                  <a:pt x="3931655" y="0"/>
                </a:lnTo>
                <a:lnTo>
                  <a:pt x="3931655" y="3931656"/>
                </a:lnTo>
                <a:lnTo>
                  <a:pt x="0" y="3931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449947">
            <a:off x="-1508967" y="-1195631"/>
            <a:ext cx="6083276" cy="6045256"/>
          </a:xfrm>
          <a:custGeom>
            <a:avLst/>
            <a:gdLst/>
            <a:ahLst/>
            <a:cxnLst/>
            <a:rect r="r" b="b" t="t" l="l"/>
            <a:pathLst>
              <a:path h="6045256" w="6083276">
                <a:moveTo>
                  <a:pt x="0" y="0"/>
                </a:moveTo>
                <a:lnTo>
                  <a:pt x="6083277" y="0"/>
                </a:lnTo>
                <a:lnTo>
                  <a:pt x="6083277" y="6045256"/>
                </a:lnTo>
                <a:lnTo>
                  <a:pt x="0" y="6045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55297" y="8703002"/>
            <a:ext cx="2532703" cy="1583998"/>
          </a:xfrm>
          <a:custGeom>
            <a:avLst/>
            <a:gdLst/>
            <a:ahLst/>
            <a:cxnLst/>
            <a:rect r="r" b="b" t="t" l="l"/>
            <a:pathLst>
              <a:path h="1583998" w="2532703">
                <a:moveTo>
                  <a:pt x="0" y="0"/>
                </a:moveTo>
                <a:lnTo>
                  <a:pt x="2532703" y="0"/>
                </a:lnTo>
                <a:lnTo>
                  <a:pt x="2532703" y="1583998"/>
                </a:lnTo>
                <a:lnTo>
                  <a:pt x="0" y="15839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56744" y="8627426"/>
            <a:ext cx="13974512" cy="73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1"/>
              </a:lnSpc>
            </a:pPr>
            <a:r>
              <a:rPr lang="en-US" sz="6413">
                <a:solidFill>
                  <a:srgbClr val="E993B9"/>
                </a:solidFill>
                <a:latin typeface="More Sugar"/>
                <a:ea typeface="More Sugar"/>
                <a:cs typeface="More Sugar"/>
                <a:sym typeface="More Sugar"/>
              </a:rPr>
              <a:t>Kilian Mbappe, Mencey Uva y Hailie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8703002"/>
            <a:ext cx="2532703" cy="1583998"/>
          </a:xfrm>
          <a:custGeom>
            <a:avLst/>
            <a:gdLst/>
            <a:ahLst/>
            <a:cxnLst/>
            <a:rect r="r" b="b" t="t" l="l"/>
            <a:pathLst>
              <a:path h="1583998" w="2532703">
                <a:moveTo>
                  <a:pt x="0" y="0"/>
                </a:moveTo>
                <a:lnTo>
                  <a:pt x="2532703" y="0"/>
                </a:lnTo>
                <a:lnTo>
                  <a:pt x="2532703" y="1583998"/>
                </a:lnTo>
                <a:lnTo>
                  <a:pt x="0" y="15839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91694" y="1251152"/>
            <a:ext cx="2955001" cy="2955001"/>
          </a:xfrm>
          <a:custGeom>
            <a:avLst/>
            <a:gdLst/>
            <a:ahLst/>
            <a:cxnLst/>
            <a:rect r="r" b="b" t="t" l="l"/>
            <a:pathLst>
              <a:path h="2955001" w="2955001">
                <a:moveTo>
                  <a:pt x="0" y="0"/>
                </a:moveTo>
                <a:lnTo>
                  <a:pt x="2955001" y="0"/>
                </a:lnTo>
                <a:lnTo>
                  <a:pt x="2955001" y="2955001"/>
                </a:lnTo>
                <a:lnTo>
                  <a:pt x="0" y="29550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42618" y="0"/>
            <a:ext cx="1698152" cy="1694756"/>
          </a:xfrm>
          <a:custGeom>
            <a:avLst/>
            <a:gdLst/>
            <a:ahLst/>
            <a:cxnLst/>
            <a:rect r="r" b="b" t="t" l="l"/>
            <a:pathLst>
              <a:path h="1694756" w="1698152">
                <a:moveTo>
                  <a:pt x="0" y="0"/>
                </a:moveTo>
                <a:lnTo>
                  <a:pt x="1698152" y="0"/>
                </a:lnTo>
                <a:lnTo>
                  <a:pt x="1698152" y="1694756"/>
                </a:lnTo>
                <a:lnTo>
                  <a:pt x="0" y="16947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622073">
            <a:off x="4490382" y="0"/>
            <a:ext cx="2035878" cy="2035878"/>
          </a:xfrm>
          <a:custGeom>
            <a:avLst/>
            <a:gdLst/>
            <a:ahLst/>
            <a:cxnLst/>
            <a:rect r="r" b="b" t="t" l="l"/>
            <a:pathLst>
              <a:path h="2035878" w="2035878">
                <a:moveTo>
                  <a:pt x="0" y="0"/>
                </a:moveTo>
                <a:lnTo>
                  <a:pt x="2035877" y="0"/>
                </a:lnTo>
                <a:lnTo>
                  <a:pt x="2035877" y="2035878"/>
                </a:lnTo>
                <a:lnTo>
                  <a:pt x="0" y="20358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848811">
            <a:off x="15831827" y="4481463"/>
            <a:ext cx="2035878" cy="2035878"/>
          </a:xfrm>
          <a:custGeom>
            <a:avLst/>
            <a:gdLst/>
            <a:ahLst/>
            <a:cxnLst/>
            <a:rect r="r" b="b" t="t" l="l"/>
            <a:pathLst>
              <a:path h="2035878" w="2035878">
                <a:moveTo>
                  <a:pt x="0" y="0"/>
                </a:moveTo>
                <a:lnTo>
                  <a:pt x="2035877" y="0"/>
                </a:lnTo>
                <a:lnTo>
                  <a:pt x="2035877" y="2035878"/>
                </a:lnTo>
                <a:lnTo>
                  <a:pt x="0" y="20358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8407147">
            <a:off x="514732" y="6662387"/>
            <a:ext cx="2035878" cy="2035878"/>
          </a:xfrm>
          <a:custGeom>
            <a:avLst/>
            <a:gdLst/>
            <a:ahLst/>
            <a:cxnLst/>
            <a:rect r="r" b="b" t="t" l="l"/>
            <a:pathLst>
              <a:path h="2035878" w="2035878">
                <a:moveTo>
                  <a:pt x="0" y="0"/>
                </a:moveTo>
                <a:lnTo>
                  <a:pt x="2035878" y="0"/>
                </a:lnTo>
                <a:lnTo>
                  <a:pt x="2035878" y="2035878"/>
                </a:lnTo>
                <a:lnTo>
                  <a:pt x="0" y="20358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138928" y="1017939"/>
            <a:ext cx="1294801" cy="1294801"/>
          </a:xfrm>
          <a:custGeom>
            <a:avLst/>
            <a:gdLst/>
            <a:ahLst/>
            <a:cxnLst/>
            <a:rect r="r" b="b" t="t" l="l"/>
            <a:pathLst>
              <a:path h="1294801" w="1294801">
                <a:moveTo>
                  <a:pt x="0" y="0"/>
                </a:moveTo>
                <a:lnTo>
                  <a:pt x="1294800" y="0"/>
                </a:lnTo>
                <a:lnTo>
                  <a:pt x="1294800" y="1294801"/>
                </a:lnTo>
                <a:lnTo>
                  <a:pt x="0" y="12948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4330275">
            <a:off x="16500032" y="5675289"/>
            <a:ext cx="2079902" cy="2079902"/>
          </a:xfrm>
          <a:custGeom>
            <a:avLst/>
            <a:gdLst/>
            <a:ahLst/>
            <a:cxnLst/>
            <a:rect r="r" b="b" t="t" l="l"/>
            <a:pathLst>
              <a:path h="2079902" w="2079902">
                <a:moveTo>
                  <a:pt x="0" y="0"/>
                </a:moveTo>
                <a:lnTo>
                  <a:pt x="2079902" y="0"/>
                </a:lnTo>
                <a:lnTo>
                  <a:pt x="2079902" y="2079902"/>
                </a:lnTo>
                <a:lnTo>
                  <a:pt x="0" y="20799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2053460">
            <a:off x="0" y="5948904"/>
            <a:ext cx="1532671" cy="1532671"/>
          </a:xfrm>
          <a:custGeom>
            <a:avLst/>
            <a:gdLst/>
            <a:ahLst/>
            <a:cxnLst/>
            <a:rect r="r" b="b" t="t" l="l"/>
            <a:pathLst>
              <a:path h="1532671" w="1532671">
                <a:moveTo>
                  <a:pt x="0" y="0"/>
                </a:moveTo>
                <a:lnTo>
                  <a:pt x="1532671" y="0"/>
                </a:lnTo>
                <a:lnTo>
                  <a:pt x="1532671" y="1532671"/>
                </a:lnTo>
                <a:lnTo>
                  <a:pt x="0" y="15326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153120">
            <a:off x="2190118" y="1614544"/>
            <a:ext cx="2284770" cy="2279072"/>
          </a:xfrm>
          <a:custGeom>
            <a:avLst/>
            <a:gdLst/>
            <a:ahLst/>
            <a:cxnLst/>
            <a:rect r="r" b="b" t="t" l="l"/>
            <a:pathLst>
              <a:path h="2279072" w="2284770">
                <a:moveTo>
                  <a:pt x="0" y="0"/>
                </a:moveTo>
                <a:lnTo>
                  <a:pt x="2284770" y="0"/>
                </a:lnTo>
                <a:lnTo>
                  <a:pt x="2284770" y="2279073"/>
                </a:lnTo>
                <a:lnTo>
                  <a:pt x="0" y="22790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049969">
            <a:off x="16116915" y="7212329"/>
            <a:ext cx="2284770" cy="2279072"/>
          </a:xfrm>
          <a:custGeom>
            <a:avLst/>
            <a:gdLst/>
            <a:ahLst/>
            <a:cxnLst/>
            <a:rect r="r" b="b" t="t" l="l"/>
            <a:pathLst>
              <a:path h="2279072" w="2284770">
                <a:moveTo>
                  <a:pt x="0" y="0"/>
                </a:moveTo>
                <a:lnTo>
                  <a:pt x="2284770" y="0"/>
                </a:lnTo>
                <a:lnTo>
                  <a:pt x="2284770" y="2279072"/>
                </a:lnTo>
                <a:lnTo>
                  <a:pt x="0" y="22790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617670" y="5499402"/>
            <a:ext cx="2667143" cy="2667143"/>
          </a:xfrm>
          <a:custGeom>
            <a:avLst/>
            <a:gdLst/>
            <a:ahLst/>
            <a:cxnLst/>
            <a:rect r="r" b="b" t="t" l="l"/>
            <a:pathLst>
              <a:path h="2667143" w="2667143">
                <a:moveTo>
                  <a:pt x="2667143" y="0"/>
                </a:moveTo>
                <a:lnTo>
                  <a:pt x="0" y="0"/>
                </a:lnTo>
                <a:lnTo>
                  <a:pt x="0" y="2667143"/>
                </a:lnTo>
                <a:lnTo>
                  <a:pt x="2667143" y="2667143"/>
                </a:lnTo>
                <a:lnTo>
                  <a:pt x="2667143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773616" y="73396"/>
            <a:ext cx="2740767" cy="2740767"/>
          </a:xfrm>
          <a:custGeom>
            <a:avLst/>
            <a:gdLst/>
            <a:ahLst/>
            <a:cxnLst/>
            <a:rect r="r" b="b" t="t" l="l"/>
            <a:pathLst>
              <a:path h="2740767" w="2740767">
                <a:moveTo>
                  <a:pt x="0" y="0"/>
                </a:moveTo>
                <a:lnTo>
                  <a:pt x="2740768" y="0"/>
                </a:lnTo>
                <a:lnTo>
                  <a:pt x="2740768" y="2740767"/>
                </a:lnTo>
                <a:lnTo>
                  <a:pt x="0" y="27407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05496" y="3758176"/>
            <a:ext cx="2254351" cy="2090589"/>
          </a:xfrm>
          <a:custGeom>
            <a:avLst/>
            <a:gdLst/>
            <a:ahLst/>
            <a:cxnLst/>
            <a:rect r="r" b="b" t="t" l="l"/>
            <a:pathLst>
              <a:path h="2090589" w="2254351">
                <a:moveTo>
                  <a:pt x="0" y="0"/>
                </a:moveTo>
                <a:lnTo>
                  <a:pt x="2254351" y="0"/>
                </a:lnTo>
                <a:lnTo>
                  <a:pt x="2254351" y="2090589"/>
                </a:lnTo>
                <a:lnTo>
                  <a:pt x="0" y="209058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300931" y="1443779"/>
            <a:ext cx="1173390" cy="1173390"/>
          </a:xfrm>
          <a:custGeom>
            <a:avLst/>
            <a:gdLst/>
            <a:ahLst/>
            <a:cxnLst/>
            <a:rect r="r" b="b" t="t" l="l"/>
            <a:pathLst>
              <a:path h="1173390" w="1173390">
                <a:moveTo>
                  <a:pt x="0" y="0"/>
                </a:moveTo>
                <a:lnTo>
                  <a:pt x="1173390" y="0"/>
                </a:lnTo>
                <a:lnTo>
                  <a:pt x="1173390" y="1173390"/>
                </a:lnTo>
                <a:lnTo>
                  <a:pt x="0" y="1173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254211" y="5848765"/>
            <a:ext cx="1803311" cy="1803311"/>
          </a:xfrm>
          <a:custGeom>
            <a:avLst/>
            <a:gdLst/>
            <a:ahLst/>
            <a:cxnLst/>
            <a:rect r="r" b="b" t="t" l="l"/>
            <a:pathLst>
              <a:path h="1803311" w="1803311">
                <a:moveTo>
                  <a:pt x="0" y="0"/>
                </a:moveTo>
                <a:lnTo>
                  <a:pt x="1803311" y="0"/>
                </a:lnTo>
                <a:lnTo>
                  <a:pt x="1803311" y="1803310"/>
                </a:lnTo>
                <a:lnTo>
                  <a:pt x="0" y="180331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688806" y="3225459"/>
            <a:ext cx="1357890" cy="1357890"/>
          </a:xfrm>
          <a:custGeom>
            <a:avLst/>
            <a:gdLst/>
            <a:ahLst/>
            <a:cxnLst/>
            <a:rect r="r" b="b" t="t" l="l"/>
            <a:pathLst>
              <a:path h="1357890" w="1357890">
                <a:moveTo>
                  <a:pt x="0" y="0"/>
                </a:moveTo>
                <a:lnTo>
                  <a:pt x="1357889" y="0"/>
                </a:lnTo>
                <a:lnTo>
                  <a:pt x="1357889" y="1357890"/>
                </a:lnTo>
                <a:lnTo>
                  <a:pt x="0" y="135789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7262" y="-347262"/>
            <a:ext cx="2751924" cy="2751924"/>
          </a:xfrm>
          <a:custGeom>
            <a:avLst/>
            <a:gdLst/>
            <a:ahLst/>
            <a:cxnLst/>
            <a:rect r="r" b="b" t="t" l="l"/>
            <a:pathLst>
              <a:path h="2751924" w="2751924">
                <a:moveTo>
                  <a:pt x="0" y="0"/>
                </a:moveTo>
                <a:lnTo>
                  <a:pt x="2751924" y="0"/>
                </a:lnTo>
                <a:lnTo>
                  <a:pt x="2751924" y="2751924"/>
                </a:lnTo>
                <a:lnTo>
                  <a:pt x="0" y="2751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24959" y="5886530"/>
            <a:ext cx="4769300" cy="4769300"/>
          </a:xfrm>
          <a:custGeom>
            <a:avLst/>
            <a:gdLst/>
            <a:ahLst/>
            <a:cxnLst/>
            <a:rect r="r" b="b" t="t" l="l"/>
            <a:pathLst>
              <a:path h="4769300" w="4769300">
                <a:moveTo>
                  <a:pt x="0" y="0"/>
                </a:moveTo>
                <a:lnTo>
                  <a:pt x="4769300" y="0"/>
                </a:lnTo>
                <a:lnTo>
                  <a:pt x="4769300" y="4769299"/>
                </a:lnTo>
                <a:lnTo>
                  <a:pt x="0" y="4769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81333" y="587566"/>
            <a:ext cx="4555934" cy="4555934"/>
          </a:xfrm>
          <a:custGeom>
            <a:avLst/>
            <a:gdLst/>
            <a:ahLst/>
            <a:cxnLst/>
            <a:rect r="r" b="b" t="t" l="l"/>
            <a:pathLst>
              <a:path h="4555934" w="4555934">
                <a:moveTo>
                  <a:pt x="0" y="0"/>
                </a:moveTo>
                <a:lnTo>
                  <a:pt x="4555934" y="0"/>
                </a:lnTo>
                <a:lnTo>
                  <a:pt x="4555934" y="4555934"/>
                </a:lnTo>
                <a:lnTo>
                  <a:pt x="0" y="455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0392" y="672042"/>
            <a:ext cx="16847216" cy="149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8"/>
              </a:lnSpc>
            </a:pPr>
            <a:r>
              <a:rPr lang="en-US" sz="13210">
                <a:solidFill>
                  <a:srgbClr val="E993B9"/>
                </a:solidFill>
                <a:latin typeface="Mikey Mugshot"/>
                <a:ea typeface="Mikey Mugshot"/>
                <a:cs typeface="Mikey Mugshot"/>
                <a:sym typeface="Mikey Mugshot"/>
              </a:rPr>
              <a:t>Índice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9158685">
            <a:off x="74024" y="2070083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158685">
            <a:off x="1285256" y="2676630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158685">
            <a:off x="17114666" y="654265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158685">
            <a:off x="16884865" y="4410747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158685">
            <a:off x="17107371" y="5020012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227092" y="6109827"/>
            <a:ext cx="4322705" cy="4322705"/>
          </a:xfrm>
          <a:custGeom>
            <a:avLst/>
            <a:gdLst/>
            <a:ahLst/>
            <a:cxnLst/>
            <a:rect r="r" b="b" t="t" l="l"/>
            <a:pathLst>
              <a:path h="4322705" w="4322705">
                <a:moveTo>
                  <a:pt x="0" y="0"/>
                </a:moveTo>
                <a:lnTo>
                  <a:pt x="4322705" y="0"/>
                </a:lnTo>
                <a:lnTo>
                  <a:pt x="4322705" y="4322705"/>
                </a:lnTo>
                <a:lnTo>
                  <a:pt x="0" y="4322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461129" y="8062331"/>
            <a:ext cx="2721928" cy="2721928"/>
          </a:xfrm>
          <a:custGeom>
            <a:avLst/>
            <a:gdLst/>
            <a:ahLst/>
            <a:cxnLst/>
            <a:rect r="r" b="b" t="t" l="l"/>
            <a:pathLst>
              <a:path h="2721928" w="2721928">
                <a:moveTo>
                  <a:pt x="0" y="0"/>
                </a:moveTo>
                <a:lnTo>
                  <a:pt x="2721928" y="0"/>
                </a:lnTo>
                <a:lnTo>
                  <a:pt x="2721928" y="2721928"/>
                </a:lnTo>
                <a:lnTo>
                  <a:pt x="0" y="27219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158685">
            <a:off x="13726305" y="955347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69"/>
                </a:lnTo>
                <a:lnTo>
                  <a:pt x="0" y="748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158685">
            <a:off x="3669906" y="8612221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9158685">
            <a:off x="3235836" y="911683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289479" y="2311723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242801" y="6747012"/>
            <a:ext cx="3539988" cy="3539988"/>
          </a:xfrm>
          <a:custGeom>
            <a:avLst/>
            <a:gdLst/>
            <a:ahLst/>
            <a:cxnLst/>
            <a:rect r="r" b="b" t="t" l="l"/>
            <a:pathLst>
              <a:path h="3539988" w="3539988">
                <a:moveTo>
                  <a:pt x="0" y="0"/>
                </a:moveTo>
                <a:lnTo>
                  <a:pt x="3539988" y="0"/>
                </a:lnTo>
                <a:lnTo>
                  <a:pt x="3539988" y="3539988"/>
                </a:lnTo>
                <a:lnTo>
                  <a:pt x="0" y="35399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706295" y="2694014"/>
            <a:ext cx="6411340" cy="5634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3607" indent="-456803" lvl="1">
              <a:lnSpc>
                <a:spcPts val="6389"/>
              </a:lnSpc>
              <a:buAutoNum type="arabicPeriod" startAt="1"/>
            </a:pPr>
            <a:r>
              <a:rPr lang="en-US" sz="4231" spc="-317">
                <a:solidFill>
                  <a:srgbClr val="6A7D1E"/>
                </a:solidFill>
                <a:latin typeface="Lazydog"/>
                <a:ea typeface="Lazydog"/>
                <a:cs typeface="Lazydog"/>
                <a:sym typeface="Lazydog"/>
              </a:rPr>
              <a:t>Introducción</a:t>
            </a:r>
          </a:p>
          <a:p>
            <a:pPr algn="l" marL="913607" indent="-456803" lvl="1">
              <a:lnSpc>
                <a:spcPts val="6389"/>
              </a:lnSpc>
              <a:buAutoNum type="arabicPeriod" startAt="1"/>
            </a:pPr>
            <a:r>
              <a:rPr lang="en-US" sz="4231" spc="-317">
                <a:solidFill>
                  <a:srgbClr val="E993B9"/>
                </a:solidFill>
                <a:latin typeface="Lazydog"/>
                <a:ea typeface="Lazydog"/>
                <a:cs typeface="Lazydog"/>
                <a:sym typeface="Lazydog"/>
              </a:rPr>
              <a:t>Sistemas de gestión y certificaciones</a:t>
            </a:r>
          </a:p>
          <a:p>
            <a:pPr algn="l" marL="913607" indent="-456803" lvl="1">
              <a:lnSpc>
                <a:spcPts val="6389"/>
              </a:lnSpc>
              <a:buAutoNum type="arabicPeriod" startAt="1"/>
            </a:pPr>
            <a:r>
              <a:rPr lang="en-US" sz="4231" spc="-317">
                <a:solidFill>
                  <a:srgbClr val="6A7D1E"/>
                </a:solidFill>
                <a:latin typeface="Lazydog"/>
                <a:ea typeface="Lazydog"/>
                <a:cs typeface="Lazydog"/>
                <a:sym typeface="Lazydog"/>
              </a:rPr>
              <a:t>Compra verde y comunicación</a:t>
            </a:r>
          </a:p>
          <a:p>
            <a:pPr algn="l" marL="913607" indent="-456803" lvl="1">
              <a:lnSpc>
                <a:spcPts val="6389"/>
              </a:lnSpc>
              <a:buAutoNum type="arabicPeriod" startAt="1"/>
            </a:pPr>
            <a:r>
              <a:rPr lang="en-US" sz="4231" spc="-317">
                <a:solidFill>
                  <a:srgbClr val="E993B9"/>
                </a:solidFill>
                <a:latin typeface="Lazydog"/>
                <a:ea typeface="Lazydog"/>
                <a:cs typeface="Lazydog"/>
                <a:sym typeface="Lazydog"/>
              </a:rPr>
              <a:t>Tipos de ecoetiquetado</a:t>
            </a:r>
          </a:p>
          <a:p>
            <a:pPr algn="l" marL="913607" indent="-456803" lvl="1">
              <a:lnSpc>
                <a:spcPts val="6389"/>
              </a:lnSpc>
              <a:spcBef>
                <a:spcPct val="0"/>
              </a:spcBef>
              <a:buAutoNum type="arabicPeriod" startAt="1"/>
            </a:pPr>
            <a:r>
              <a:rPr lang="en-US" sz="4231" spc="-317">
                <a:solidFill>
                  <a:srgbClr val="6A7D1E"/>
                </a:solidFill>
                <a:latin typeface="Lazydog"/>
                <a:ea typeface="Lazydog"/>
                <a:cs typeface="Lazydog"/>
                <a:sym typeface="Lazydog"/>
              </a:rPr>
              <a:t>RSE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50076" y="3098826"/>
            <a:ext cx="6131630" cy="482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3607" indent="-456803" lvl="1">
              <a:lnSpc>
                <a:spcPts val="6389"/>
              </a:lnSpc>
              <a:buAutoNum type="arabicPeriod" startAt="1"/>
            </a:pPr>
            <a:r>
              <a:rPr lang="en-US" sz="4231" spc="-317">
                <a:solidFill>
                  <a:srgbClr val="6A7D1E"/>
                </a:solidFill>
                <a:latin typeface="Lazydog"/>
                <a:ea typeface="Lazydog"/>
                <a:cs typeface="Lazydog"/>
                <a:sym typeface="Lazydog"/>
              </a:rPr>
              <a:t>Matriz de influencia e interés</a:t>
            </a:r>
          </a:p>
          <a:p>
            <a:pPr algn="l" marL="913607" indent="-456803" lvl="1">
              <a:lnSpc>
                <a:spcPts val="6389"/>
              </a:lnSpc>
              <a:buAutoNum type="arabicPeriod" startAt="1"/>
            </a:pPr>
            <a:r>
              <a:rPr lang="en-US" sz="4231" spc="-317">
                <a:solidFill>
                  <a:srgbClr val="E993B9"/>
                </a:solidFill>
                <a:latin typeface="Lazydog"/>
                <a:ea typeface="Lazydog"/>
                <a:cs typeface="Lazydog"/>
                <a:sym typeface="Lazydog"/>
              </a:rPr>
              <a:t>materialidad y doble materialidad</a:t>
            </a:r>
          </a:p>
          <a:p>
            <a:pPr algn="l" marL="913607" indent="-456803" lvl="1">
              <a:lnSpc>
                <a:spcPts val="6389"/>
              </a:lnSpc>
              <a:spcBef>
                <a:spcPct val="0"/>
              </a:spcBef>
              <a:buAutoNum type="arabicPeriod" startAt="1"/>
            </a:pPr>
            <a:r>
              <a:rPr lang="en-US" sz="4231" spc="-317">
                <a:solidFill>
                  <a:srgbClr val="6A7D1E"/>
                </a:solidFill>
                <a:latin typeface="Lazydog"/>
                <a:ea typeface="Lazydog"/>
                <a:cs typeface="Lazydog"/>
                <a:sym typeface="Lazydog"/>
              </a:rPr>
              <a:t>elaboración del plan de sostenibilidad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7262" y="-347262"/>
            <a:ext cx="2751924" cy="2751924"/>
          </a:xfrm>
          <a:custGeom>
            <a:avLst/>
            <a:gdLst/>
            <a:ahLst/>
            <a:cxnLst/>
            <a:rect r="r" b="b" t="t" l="l"/>
            <a:pathLst>
              <a:path h="2751924" w="2751924">
                <a:moveTo>
                  <a:pt x="0" y="0"/>
                </a:moveTo>
                <a:lnTo>
                  <a:pt x="2751924" y="0"/>
                </a:lnTo>
                <a:lnTo>
                  <a:pt x="2751924" y="2751924"/>
                </a:lnTo>
                <a:lnTo>
                  <a:pt x="0" y="2751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24959" y="5886530"/>
            <a:ext cx="4769300" cy="4769300"/>
          </a:xfrm>
          <a:custGeom>
            <a:avLst/>
            <a:gdLst/>
            <a:ahLst/>
            <a:cxnLst/>
            <a:rect r="r" b="b" t="t" l="l"/>
            <a:pathLst>
              <a:path h="4769300" w="4769300">
                <a:moveTo>
                  <a:pt x="0" y="0"/>
                </a:moveTo>
                <a:lnTo>
                  <a:pt x="4769300" y="0"/>
                </a:lnTo>
                <a:lnTo>
                  <a:pt x="4769300" y="4769299"/>
                </a:lnTo>
                <a:lnTo>
                  <a:pt x="0" y="4769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81333" y="587566"/>
            <a:ext cx="4555934" cy="4555934"/>
          </a:xfrm>
          <a:custGeom>
            <a:avLst/>
            <a:gdLst/>
            <a:ahLst/>
            <a:cxnLst/>
            <a:rect r="r" b="b" t="t" l="l"/>
            <a:pathLst>
              <a:path h="4555934" w="4555934">
                <a:moveTo>
                  <a:pt x="0" y="0"/>
                </a:moveTo>
                <a:lnTo>
                  <a:pt x="4555934" y="0"/>
                </a:lnTo>
                <a:lnTo>
                  <a:pt x="4555934" y="4555934"/>
                </a:lnTo>
                <a:lnTo>
                  <a:pt x="0" y="455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158685">
            <a:off x="74024" y="2070083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158685">
            <a:off x="1285256" y="2676630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158685">
            <a:off x="17114666" y="654265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158685">
            <a:off x="16884865" y="4410747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158685">
            <a:off x="17107371" y="5020012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27092" y="6109827"/>
            <a:ext cx="4322705" cy="4322705"/>
          </a:xfrm>
          <a:custGeom>
            <a:avLst/>
            <a:gdLst/>
            <a:ahLst/>
            <a:cxnLst/>
            <a:rect r="r" b="b" t="t" l="l"/>
            <a:pathLst>
              <a:path h="4322705" w="4322705">
                <a:moveTo>
                  <a:pt x="0" y="0"/>
                </a:moveTo>
                <a:lnTo>
                  <a:pt x="4322705" y="0"/>
                </a:lnTo>
                <a:lnTo>
                  <a:pt x="4322705" y="4322705"/>
                </a:lnTo>
                <a:lnTo>
                  <a:pt x="0" y="4322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61129" y="8062331"/>
            <a:ext cx="2721928" cy="2721928"/>
          </a:xfrm>
          <a:custGeom>
            <a:avLst/>
            <a:gdLst/>
            <a:ahLst/>
            <a:cxnLst/>
            <a:rect r="r" b="b" t="t" l="l"/>
            <a:pathLst>
              <a:path h="2721928" w="2721928">
                <a:moveTo>
                  <a:pt x="0" y="0"/>
                </a:moveTo>
                <a:lnTo>
                  <a:pt x="2721928" y="0"/>
                </a:lnTo>
                <a:lnTo>
                  <a:pt x="2721928" y="2721928"/>
                </a:lnTo>
                <a:lnTo>
                  <a:pt x="0" y="27219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158685">
            <a:off x="13726305" y="955347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69"/>
                </a:lnTo>
                <a:lnTo>
                  <a:pt x="0" y="748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158685">
            <a:off x="3669906" y="8612221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158685">
            <a:off x="3235836" y="911683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9479" y="2311723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242801" y="6747012"/>
            <a:ext cx="3539988" cy="3539988"/>
          </a:xfrm>
          <a:custGeom>
            <a:avLst/>
            <a:gdLst/>
            <a:ahLst/>
            <a:cxnLst/>
            <a:rect r="r" b="b" t="t" l="l"/>
            <a:pathLst>
              <a:path h="3539988" w="3539988">
                <a:moveTo>
                  <a:pt x="0" y="0"/>
                </a:moveTo>
                <a:lnTo>
                  <a:pt x="3539988" y="0"/>
                </a:lnTo>
                <a:lnTo>
                  <a:pt x="3539988" y="3539988"/>
                </a:lnTo>
                <a:lnTo>
                  <a:pt x="0" y="35399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790612" y="3634678"/>
            <a:ext cx="12706776" cy="318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9"/>
              </a:lnSpc>
              <a:spcBef>
                <a:spcPct val="0"/>
              </a:spcBef>
            </a:pPr>
            <a:r>
              <a:rPr lang="en-US" sz="6085">
                <a:solidFill>
                  <a:srgbClr val="6A7D1E"/>
                </a:solidFill>
                <a:latin typeface="Lazydog"/>
                <a:ea typeface="Lazydog"/>
                <a:cs typeface="Lazydog"/>
                <a:sym typeface="Lazydog"/>
              </a:rPr>
              <a:t>Las empresas deben demostrar que s</a:t>
            </a:r>
            <a:r>
              <a:rPr lang="en-US" sz="6085">
                <a:solidFill>
                  <a:srgbClr val="6A7D1E"/>
                </a:solidFill>
                <a:latin typeface="Lazydog"/>
                <a:ea typeface="Lazydog"/>
                <a:cs typeface="Lazydog"/>
                <a:sym typeface="Lazydog"/>
              </a:rPr>
              <a:t>us actividades son sostenibles y responsables.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0392" y="672042"/>
            <a:ext cx="16847216" cy="149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8"/>
              </a:lnSpc>
            </a:pPr>
            <a:r>
              <a:rPr lang="en-US" sz="13210">
                <a:solidFill>
                  <a:srgbClr val="E993B9"/>
                </a:solidFill>
                <a:latin typeface="Mikey Mugshot"/>
                <a:ea typeface="Mikey Mugshot"/>
                <a:cs typeface="Mikey Mugshot"/>
                <a:sym typeface="Mikey Mugshot"/>
              </a:rPr>
              <a:t>Introducción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7262" y="-347262"/>
            <a:ext cx="2751924" cy="2751924"/>
          </a:xfrm>
          <a:custGeom>
            <a:avLst/>
            <a:gdLst/>
            <a:ahLst/>
            <a:cxnLst/>
            <a:rect r="r" b="b" t="t" l="l"/>
            <a:pathLst>
              <a:path h="2751924" w="2751924">
                <a:moveTo>
                  <a:pt x="0" y="0"/>
                </a:moveTo>
                <a:lnTo>
                  <a:pt x="2751924" y="0"/>
                </a:lnTo>
                <a:lnTo>
                  <a:pt x="2751924" y="2751924"/>
                </a:lnTo>
                <a:lnTo>
                  <a:pt x="0" y="2751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24959" y="5886530"/>
            <a:ext cx="4769300" cy="4769300"/>
          </a:xfrm>
          <a:custGeom>
            <a:avLst/>
            <a:gdLst/>
            <a:ahLst/>
            <a:cxnLst/>
            <a:rect r="r" b="b" t="t" l="l"/>
            <a:pathLst>
              <a:path h="4769300" w="4769300">
                <a:moveTo>
                  <a:pt x="0" y="0"/>
                </a:moveTo>
                <a:lnTo>
                  <a:pt x="4769300" y="0"/>
                </a:lnTo>
                <a:lnTo>
                  <a:pt x="4769300" y="4769299"/>
                </a:lnTo>
                <a:lnTo>
                  <a:pt x="0" y="4769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81333" y="587566"/>
            <a:ext cx="4555934" cy="4555934"/>
          </a:xfrm>
          <a:custGeom>
            <a:avLst/>
            <a:gdLst/>
            <a:ahLst/>
            <a:cxnLst/>
            <a:rect r="r" b="b" t="t" l="l"/>
            <a:pathLst>
              <a:path h="4555934" w="4555934">
                <a:moveTo>
                  <a:pt x="0" y="0"/>
                </a:moveTo>
                <a:lnTo>
                  <a:pt x="4555934" y="0"/>
                </a:lnTo>
                <a:lnTo>
                  <a:pt x="4555934" y="4555934"/>
                </a:lnTo>
                <a:lnTo>
                  <a:pt x="0" y="455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158685">
            <a:off x="74024" y="2070083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158685">
            <a:off x="1285256" y="2676630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158685">
            <a:off x="17114666" y="654265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158685">
            <a:off x="16884865" y="4410747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158685">
            <a:off x="17107371" y="5020012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27092" y="6109827"/>
            <a:ext cx="4322705" cy="4322705"/>
          </a:xfrm>
          <a:custGeom>
            <a:avLst/>
            <a:gdLst/>
            <a:ahLst/>
            <a:cxnLst/>
            <a:rect r="r" b="b" t="t" l="l"/>
            <a:pathLst>
              <a:path h="4322705" w="4322705">
                <a:moveTo>
                  <a:pt x="0" y="0"/>
                </a:moveTo>
                <a:lnTo>
                  <a:pt x="4322705" y="0"/>
                </a:lnTo>
                <a:lnTo>
                  <a:pt x="4322705" y="4322705"/>
                </a:lnTo>
                <a:lnTo>
                  <a:pt x="0" y="4322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61129" y="8062331"/>
            <a:ext cx="2721928" cy="2721928"/>
          </a:xfrm>
          <a:custGeom>
            <a:avLst/>
            <a:gdLst/>
            <a:ahLst/>
            <a:cxnLst/>
            <a:rect r="r" b="b" t="t" l="l"/>
            <a:pathLst>
              <a:path h="2721928" w="2721928">
                <a:moveTo>
                  <a:pt x="0" y="0"/>
                </a:moveTo>
                <a:lnTo>
                  <a:pt x="2721928" y="0"/>
                </a:lnTo>
                <a:lnTo>
                  <a:pt x="2721928" y="2721928"/>
                </a:lnTo>
                <a:lnTo>
                  <a:pt x="0" y="27219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158685">
            <a:off x="13726305" y="955347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69"/>
                </a:lnTo>
                <a:lnTo>
                  <a:pt x="0" y="748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158685">
            <a:off x="3669906" y="8612221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158685">
            <a:off x="3235836" y="911683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20392" y="672042"/>
            <a:ext cx="16847216" cy="283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8"/>
              </a:lnSpc>
            </a:pPr>
            <a:r>
              <a:rPr lang="en-US" sz="13210">
                <a:solidFill>
                  <a:srgbClr val="E993B9"/>
                </a:solidFill>
                <a:latin typeface="Mikey Mugshot"/>
                <a:ea typeface="Mikey Mugshot"/>
                <a:cs typeface="Mikey Mugshot"/>
                <a:sym typeface="Mikey Mugshot"/>
              </a:rPr>
              <a:t>Sistemas de gestión y certificaciones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2289479" y="2311723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242801" y="6747012"/>
            <a:ext cx="3539988" cy="3539988"/>
          </a:xfrm>
          <a:custGeom>
            <a:avLst/>
            <a:gdLst/>
            <a:ahLst/>
            <a:cxnLst/>
            <a:rect r="r" b="b" t="t" l="l"/>
            <a:pathLst>
              <a:path h="3539988" w="3539988">
                <a:moveTo>
                  <a:pt x="0" y="0"/>
                </a:moveTo>
                <a:lnTo>
                  <a:pt x="3539988" y="0"/>
                </a:lnTo>
                <a:lnTo>
                  <a:pt x="3539988" y="3539988"/>
                </a:lnTo>
                <a:lnTo>
                  <a:pt x="0" y="35399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3798130" y="3733664"/>
          <a:ext cx="10691740" cy="3981450"/>
        </p:xfrm>
        <a:graphic>
          <a:graphicData uri="http://schemas.openxmlformats.org/drawingml/2006/table">
            <a:tbl>
              <a:tblPr/>
              <a:tblGrid>
                <a:gridCol w="3129588"/>
                <a:gridCol w="7562152"/>
              </a:tblGrid>
              <a:tr h="13271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6A7D1E"/>
                          </a:solidFill>
                          <a:latin typeface="Lazydog"/>
                          <a:ea typeface="Lazydog"/>
                          <a:cs typeface="Lazydog"/>
                          <a:sym typeface="Lazydog"/>
                        </a:rPr>
                        <a:t>ISO 14001; EMAS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6A7D1E"/>
                          </a:solidFill>
                          <a:latin typeface="Lazydog"/>
                          <a:ea typeface="Lazydog"/>
                          <a:cs typeface="Lazydog"/>
                          <a:sym typeface="Lazydog"/>
                        </a:rPr>
                        <a:t>Gestión ambiental de la organización; ecogestión y auditoría ambiental.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71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6A7D1E"/>
                          </a:solidFill>
                          <a:latin typeface="Lazydog"/>
                          <a:ea typeface="Lazydog"/>
                          <a:cs typeface="Lazydog"/>
                          <a:sym typeface="Lazydog"/>
                        </a:rPr>
                        <a:t>ISO 50001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6A7D1E"/>
                          </a:solidFill>
                          <a:latin typeface="Lazydog"/>
                          <a:ea typeface="Lazydog"/>
                          <a:cs typeface="Lazydog"/>
                          <a:sym typeface="Lazydog"/>
                        </a:rPr>
                        <a:t>Gestión de la energía y mejora de la eficiencia.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71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6A7D1E"/>
                          </a:solidFill>
                          <a:latin typeface="Lazydog"/>
                          <a:ea typeface="Lazydog"/>
                          <a:cs typeface="Lazydog"/>
                          <a:sym typeface="Lazydog"/>
                        </a:rPr>
                        <a:t>ISO 14025; DAP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6A7D1E"/>
                          </a:solidFill>
                          <a:latin typeface="Lazydog"/>
                          <a:ea typeface="Lazydog"/>
                          <a:cs typeface="Lazydog"/>
                          <a:sym typeface="Lazydog"/>
                        </a:rPr>
                        <a:t>Información ambiental de productos basada en su ciclo de vida.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5986262" y="7899305"/>
            <a:ext cx="6315476" cy="104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9"/>
              </a:lnSpc>
              <a:spcBef>
                <a:spcPct val="0"/>
              </a:spcBef>
            </a:pPr>
            <a:r>
              <a:rPr lang="en-US" sz="6085">
                <a:solidFill>
                  <a:srgbClr val="6A7D1E"/>
                </a:solidFill>
                <a:latin typeface="Lazydog"/>
                <a:ea typeface="Lazydog"/>
                <a:cs typeface="Lazydog"/>
                <a:sym typeface="Lazydog"/>
              </a:rPr>
              <a:t>G</a:t>
            </a:r>
            <a:r>
              <a:rPr lang="en-US" sz="6085">
                <a:solidFill>
                  <a:srgbClr val="6A7D1E"/>
                </a:solidFill>
                <a:latin typeface="Lazydog"/>
                <a:ea typeface="Lazydog"/>
                <a:cs typeface="Lazydog"/>
                <a:sym typeface="Lazydog"/>
              </a:rPr>
              <a:t>uía ISO 26000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7262" y="-347262"/>
            <a:ext cx="2751924" cy="2751924"/>
          </a:xfrm>
          <a:custGeom>
            <a:avLst/>
            <a:gdLst/>
            <a:ahLst/>
            <a:cxnLst/>
            <a:rect r="r" b="b" t="t" l="l"/>
            <a:pathLst>
              <a:path h="2751924" w="2751924">
                <a:moveTo>
                  <a:pt x="0" y="0"/>
                </a:moveTo>
                <a:lnTo>
                  <a:pt x="2751924" y="0"/>
                </a:lnTo>
                <a:lnTo>
                  <a:pt x="2751924" y="2751924"/>
                </a:lnTo>
                <a:lnTo>
                  <a:pt x="0" y="2751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24959" y="5886530"/>
            <a:ext cx="4769300" cy="4769300"/>
          </a:xfrm>
          <a:custGeom>
            <a:avLst/>
            <a:gdLst/>
            <a:ahLst/>
            <a:cxnLst/>
            <a:rect r="r" b="b" t="t" l="l"/>
            <a:pathLst>
              <a:path h="4769300" w="4769300">
                <a:moveTo>
                  <a:pt x="0" y="0"/>
                </a:moveTo>
                <a:lnTo>
                  <a:pt x="4769300" y="0"/>
                </a:lnTo>
                <a:lnTo>
                  <a:pt x="4769300" y="4769299"/>
                </a:lnTo>
                <a:lnTo>
                  <a:pt x="0" y="4769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81333" y="587566"/>
            <a:ext cx="4555934" cy="4555934"/>
          </a:xfrm>
          <a:custGeom>
            <a:avLst/>
            <a:gdLst/>
            <a:ahLst/>
            <a:cxnLst/>
            <a:rect r="r" b="b" t="t" l="l"/>
            <a:pathLst>
              <a:path h="4555934" w="4555934">
                <a:moveTo>
                  <a:pt x="0" y="0"/>
                </a:moveTo>
                <a:lnTo>
                  <a:pt x="4555934" y="0"/>
                </a:lnTo>
                <a:lnTo>
                  <a:pt x="4555934" y="4555934"/>
                </a:lnTo>
                <a:lnTo>
                  <a:pt x="0" y="455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158685">
            <a:off x="74024" y="2070083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158685">
            <a:off x="1285256" y="2676630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158685">
            <a:off x="17114666" y="654265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158685">
            <a:off x="16884865" y="4410747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158685">
            <a:off x="17107371" y="5020012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27092" y="6109827"/>
            <a:ext cx="4322705" cy="4322705"/>
          </a:xfrm>
          <a:custGeom>
            <a:avLst/>
            <a:gdLst/>
            <a:ahLst/>
            <a:cxnLst/>
            <a:rect r="r" b="b" t="t" l="l"/>
            <a:pathLst>
              <a:path h="4322705" w="4322705">
                <a:moveTo>
                  <a:pt x="0" y="0"/>
                </a:moveTo>
                <a:lnTo>
                  <a:pt x="4322705" y="0"/>
                </a:lnTo>
                <a:lnTo>
                  <a:pt x="4322705" y="4322705"/>
                </a:lnTo>
                <a:lnTo>
                  <a:pt x="0" y="4322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61129" y="8062331"/>
            <a:ext cx="2721928" cy="2721928"/>
          </a:xfrm>
          <a:custGeom>
            <a:avLst/>
            <a:gdLst/>
            <a:ahLst/>
            <a:cxnLst/>
            <a:rect r="r" b="b" t="t" l="l"/>
            <a:pathLst>
              <a:path h="2721928" w="2721928">
                <a:moveTo>
                  <a:pt x="0" y="0"/>
                </a:moveTo>
                <a:lnTo>
                  <a:pt x="2721928" y="0"/>
                </a:lnTo>
                <a:lnTo>
                  <a:pt x="2721928" y="2721928"/>
                </a:lnTo>
                <a:lnTo>
                  <a:pt x="0" y="27219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158685">
            <a:off x="13726305" y="955347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69"/>
                </a:lnTo>
                <a:lnTo>
                  <a:pt x="0" y="748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158685">
            <a:off x="3669906" y="8612221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158685">
            <a:off x="3235836" y="911683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9479" y="2311723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242801" y="6747012"/>
            <a:ext cx="3539988" cy="3539988"/>
          </a:xfrm>
          <a:custGeom>
            <a:avLst/>
            <a:gdLst/>
            <a:ahLst/>
            <a:cxnLst/>
            <a:rect r="r" b="b" t="t" l="l"/>
            <a:pathLst>
              <a:path h="3539988" w="3539988">
                <a:moveTo>
                  <a:pt x="0" y="0"/>
                </a:moveTo>
                <a:lnTo>
                  <a:pt x="3539988" y="0"/>
                </a:lnTo>
                <a:lnTo>
                  <a:pt x="3539988" y="3539988"/>
                </a:lnTo>
                <a:lnTo>
                  <a:pt x="0" y="35399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790612" y="3402441"/>
            <a:ext cx="12706776" cy="4843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66"/>
              </a:lnSpc>
            </a:pPr>
            <a:r>
              <a:rPr lang="en-US" sz="6085">
                <a:solidFill>
                  <a:srgbClr val="6A7D1E"/>
                </a:solidFill>
                <a:latin typeface="Lazydog"/>
                <a:ea typeface="Lazydog"/>
                <a:cs typeface="Lazydog"/>
                <a:sym typeface="Lazydog"/>
              </a:rPr>
              <a:t>Compra verde</a:t>
            </a:r>
          </a:p>
          <a:p>
            <a:pPr algn="ctr">
              <a:lnSpc>
                <a:spcPts val="13266"/>
              </a:lnSpc>
            </a:pPr>
            <a:r>
              <a:rPr lang="en-US" sz="6085">
                <a:solidFill>
                  <a:srgbClr val="6A7D1E"/>
                </a:solidFill>
                <a:latin typeface="Lazydog"/>
                <a:ea typeface="Lazydog"/>
                <a:cs typeface="Lazydog"/>
                <a:sym typeface="Lazydog"/>
              </a:rPr>
              <a:t>marketing verde</a:t>
            </a:r>
          </a:p>
          <a:p>
            <a:pPr algn="ctr">
              <a:lnSpc>
                <a:spcPts val="13266"/>
              </a:lnSpc>
              <a:spcBef>
                <a:spcPct val="0"/>
              </a:spcBef>
            </a:pPr>
            <a:r>
              <a:rPr lang="en-US" sz="6085">
                <a:solidFill>
                  <a:srgbClr val="6A7D1E"/>
                </a:solidFill>
                <a:latin typeface="Lazydog"/>
                <a:ea typeface="Lazydog"/>
                <a:cs typeface="Lazydog"/>
                <a:sym typeface="Lazydog"/>
              </a:rPr>
              <a:t>greenwashing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0392" y="672042"/>
            <a:ext cx="16847216" cy="283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8"/>
              </a:lnSpc>
            </a:pPr>
            <a:r>
              <a:rPr lang="en-US" sz="13210">
                <a:solidFill>
                  <a:srgbClr val="E993B9"/>
                </a:solidFill>
                <a:latin typeface="Mikey Mugshot"/>
                <a:ea typeface="Mikey Mugshot"/>
                <a:cs typeface="Mikey Mugshot"/>
                <a:sym typeface="Mikey Mugshot"/>
              </a:rPr>
              <a:t>Compra verde y comunicación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7262" y="-347262"/>
            <a:ext cx="2751924" cy="2751924"/>
          </a:xfrm>
          <a:custGeom>
            <a:avLst/>
            <a:gdLst/>
            <a:ahLst/>
            <a:cxnLst/>
            <a:rect r="r" b="b" t="t" l="l"/>
            <a:pathLst>
              <a:path h="2751924" w="2751924">
                <a:moveTo>
                  <a:pt x="0" y="0"/>
                </a:moveTo>
                <a:lnTo>
                  <a:pt x="2751924" y="0"/>
                </a:lnTo>
                <a:lnTo>
                  <a:pt x="2751924" y="2751924"/>
                </a:lnTo>
                <a:lnTo>
                  <a:pt x="0" y="2751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24959" y="5886530"/>
            <a:ext cx="4769300" cy="4769300"/>
          </a:xfrm>
          <a:custGeom>
            <a:avLst/>
            <a:gdLst/>
            <a:ahLst/>
            <a:cxnLst/>
            <a:rect r="r" b="b" t="t" l="l"/>
            <a:pathLst>
              <a:path h="4769300" w="4769300">
                <a:moveTo>
                  <a:pt x="0" y="0"/>
                </a:moveTo>
                <a:lnTo>
                  <a:pt x="4769300" y="0"/>
                </a:lnTo>
                <a:lnTo>
                  <a:pt x="4769300" y="4769299"/>
                </a:lnTo>
                <a:lnTo>
                  <a:pt x="0" y="4769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81333" y="587566"/>
            <a:ext cx="4555934" cy="4555934"/>
          </a:xfrm>
          <a:custGeom>
            <a:avLst/>
            <a:gdLst/>
            <a:ahLst/>
            <a:cxnLst/>
            <a:rect r="r" b="b" t="t" l="l"/>
            <a:pathLst>
              <a:path h="4555934" w="4555934">
                <a:moveTo>
                  <a:pt x="0" y="0"/>
                </a:moveTo>
                <a:lnTo>
                  <a:pt x="4555934" y="0"/>
                </a:lnTo>
                <a:lnTo>
                  <a:pt x="4555934" y="4555934"/>
                </a:lnTo>
                <a:lnTo>
                  <a:pt x="0" y="455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158685">
            <a:off x="74024" y="2070083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158685">
            <a:off x="1285256" y="2676630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158685">
            <a:off x="17114666" y="654265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158685">
            <a:off x="16884865" y="4410747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158685">
            <a:off x="17107371" y="5020012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27092" y="6109827"/>
            <a:ext cx="4322705" cy="4322705"/>
          </a:xfrm>
          <a:custGeom>
            <a:avLst/>
            <a:gdLst/>
            <a:ahLst/>
            <a:cxnLst/>
            <a:rect r="r" b="b" t="t" l="l"/>
            <a:pathLst>
              <a:path h="4322705" w="4322705">
                <a:moveTo>
                  <a:pt x="0" y="0"/>
                </a:moveTo>
                <a:lnTo>
                  <a:pt x="4322705" y="0"/>
                </a:lnTo>
                <a:lnTo>
                  <a:pt x="4322705" y="4322705"/>
                </a:lnTo>
                <a:lnTo>
                  <a:pt x="0" y="4322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61129" y="8062331"/>
            <a:ext cx="2721928" cy="2721928"/>
          </a:xfrm>
          <a:custGeom>
            <a:avLst/>
            <a:gdLst/>
            <a:ahLst/>
            <a:cxnLst/>
            <a:rect r="r" b="b" t="t" l="l"/>
            <a:pathLst>
              <a:path h="2721928" w="2721928">
                <a:moveTo>
                  <a:pt x="0" y="0"/>
                </a:moveTo>
                <a:lnTo>
                  <a:pt x="2721928" y="0"/>
                </a:lnTo>
                <a:lnTo>
                  <a:pt x="2721928" y="2721928"/>
                </a:lnTo>
                <a:lnTo>
                  <a:pt x="0" y="27219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158685">
            <a:off x="13726305" y="955347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69"/>
                </a:lnTo>
                <a:lnTo>
                  <a:pt x="0" y="748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158685">
            <a:off x="3669906" y="8612221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158685">
            <a:off x="3235836" y="911683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20392" y="672042"/>
            <a:ext cx="16847216" cy="149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8"/>
              </a:lnSpc>
            </a:pPr>
            <a:r>
              <a:rPr lang="en-US" sz="13210">
                <a:solidFill>
                  <a:srgbClr val="E993B9"/>
                </a:solidFill>
                <a:latin typeface="Mikey Mugshot"/>
                <a:ea typeface="Mikey Mugshot"/>
                <a:cs typeface="Mikey Mugshot"/>
                <a:sym typeface="Mikey Mugshot"/>
              </a:rPr>
              <a:t>Tipos de ecoetiquetados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2289479" y="2311723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242801" y="6747012"/>
            <a:ext cx="3539988" cy="3539988"/>
          </a:xfrm>
          <a:custGeom>
            <a:avLst/>
            <a:gdLst/>
            <a:ahLst/>
            <a:cxnLst/>
            <a:rect r="r" b="b" t="t" l="l"/>
            <a:pathLst>
              <a:path h="3539988" w="3539988">
                <a:moveTo>
                  <a:pt x="0" y="0"/>
                </a:moveTo>
                <a:lnTo>
                  <a:pt x="3539988" y="0"/>
                </a:lnTo>
                <a:lnTo>
                  <a:pt x="3539988" y="3539988"/>
                </a:lnTo>
                <a:lnTo>
                  <a:pt x="0" y="35399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3798130" y="2770857"/>
          <a:ext cx="10691740" cy="5295900"/>
        </p:xfrm>
        <a:graphic>
          <a:graphicData uri="http://schemas.openxmlformats.org/drawingml/2006/table">
            <a:tbl>
              <a:tblPr/>
              <a:tblGrid>
                <a:gridCol w="3129588"/>
                <a:gridCol w="7562152"/>
              </a:tblGrid>
              <a:tr h="13239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6A7D1E"/>
                          </a:solidFill>
                          <a:latin typeface="Lazydog"/>
                          <a:ea typeface="Lazydog"/>
                          <a:cs typeface="Lazydog"/>
                          <a:sym typeface="Lazydog"/>
                        </a:rPr>
                        <a:t>Tipo 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6A7D1E"/>
                          </a:solidFill>
                          <a:latin typeface="Lazydog"/>
                          <a:ea typeface="Lazydog"/>
                          <a:cs typeface="Lazydog"/>
                          <a:sym typeface="Lazydog"/>
                        </a:rPr>
                        <a:t>Una entidad externa evalúa el producto según criterios ambientales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39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6A7D1E"/>
                          </a:solidFill>
                          <a:latin typeface="Lazydog"/>
                          <a:ea typeface="Lazydog"/>
                          <a:cs typeface="Lazydog"/>
                          <a:sym typeface="Lazydog"/>
                        </a:rPr>
                        <a:t>Semitipo 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6A7D1E"/>
                          </a:solidFill>
                          <a:latin typeface="Lazydog"/>
                          <a:ea typeface="Lazydog"/>
                          <a:cs typeface="Lazydog"/>
                          <a:sym typeface="Lazydog"/>
                        </a:rPr>
                        <a:t>Se centra en determinados aspectos ambientales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39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6A7D1E"/>
                          </a:solidFill>
                          <a:latin typeface="Lazydog"/>
                          <a:ea typeface="Lazydog"/>
                          <a:cs typeface="Lazydog"/>
                          <a:sym typeface="Lazydog"/>
                        </a:rPr>
                        <a:t>Tipo II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6A7D1E"/>
                          </a:solidFill>
                          <a:latin typeface="Lazydog"/>
                          <a:ea typeface="Lazydog"/>
                          <a:cs typeface="Lazydog"/>
                          <a:sym typeface="Lazydog"/>
                        </a:rPr>
                        <a:t>El propio fabricante declara las características ecológicas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39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6A7D1E"/>
                          </a:solidFill>
                          <a:latin typeface="Lazydog"/>
                          <a:ea typeface="Lazydog"/>
                          <a:cs typeface="Lazydog"/>
                          <a:sym typeface="Lazydog"/>
                        </a:rPr>
                        <a:t>Tipo iii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6A7D1E"/>
                          </a:solidFill>
                          <a:latin typeface="Lazydog"/>
                          <a:ea typeface="Lazydog"/>
                          <a:cs typeface="Lazydog"/>
                          <a:sym typeface="Lazydog"/>
                        </a:rPr>
                        <a:t>Ofrece información ambiental del ciclo de vida, verificada externamente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6A7D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7262" y="-347262"/>
            <a:ext cx="2751924" cy="2751924"/>
          </a:xfrm>
          <a:custGeom>
            <a:avLst/>
            <a:gdLst/>
            <a:ahLst/>
            <a:cxnLst/>
            <a:rect r="r" b="b" t="t" l="l"/>
            <a:pathLst>
              <a:path h="2751924" w="2751924">
                <a:moveTo>
                  <a:pt x="0" y="0"/>
                </a:moveTo>
                <a:lnTo>
                  <a:pt x="2751924" y="0"/>
                </a:lnTo>
                <a:lnTo>
                  <a:pt x="2751924" y="2751924"/>
                </a:lnTo>
                <a:lnTo>
                  <a:pt x="0" y="2751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24959" y="5886530"/>
            <a:ext cx="4769300" cy="4769300"/>
          </a:xfrm>
          <a:custGeom>
            <a:avLst/>
            <a:gdLst/>
            <a:ahLst/>
            <a:cxnLst/>
            <a:rect r="r" b="b" t="t" l="l"/>
            <a:pathLst>
              <a:path h="4769300" w="4769300">
                <a:moveTo>
                  <a:pt x="0" y="0"/>
                </a:moveTo>
                <a:lnTo>
                  <a:pt x="4769300" y="0"/>
                </a:lnTo>
                <a:lnTo>
                  <a:pt x="4769300" y="4769299"/>
                </a:lnTo>
                <a:lnTo>
                  <a:pt x="0" y="4769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81333" y="587566"/>
            <a:ext cx="4555934" cy="4555934"/>
          </a:xfrm>
          <a:custGeom>
            <a:avLst/>
            <a:gdLst/>
            <a:ahLst/>
            <a:cxnLst/>
            <a:rect r="r" b="b" t="t" l="l"/>
            <a:pathLst>
              <a:path h="4555934" w="4555934">
                <a:moveTo>
                  <a:pt x="0" y="0"/>
                </a:moveTo>
                <a:lnTo>
                  <a:pt x="4555934" y="0"/>
                </a:lnTo>
                <a:lnTo>
                  <a:pt x="4555934" y="4555934"/>
                </a:lnTo>
                <a:lnTo>
                  <a:pt x="0" y="455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158685">
            <a:off x="74024" y="2070083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158685">
            <a:off x="1285256" y="2676630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158685">
            <a:off x="17114666" y="654265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158685">
            <a:off x="16884865" y="4410747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158685">
            <a:off x="17107371" y="5020012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27092" y="6109827"/>
            <a:ext cx="4322705" cy="4322705"/>
          </a:xfrm>
          <a:custGeom>
            <a:avLst/>
            <a:gdLst/>
            <a:ahLst/>
            <a:cxnLst/>
            <a:rect r="r" b="b" t="t" l="l"/>
            <a:pathLst>
              <a:path h="4322705" w="4322705">
                <a:moveTo>
                  <a:pt x="0" y="0"/>
                </a:moveTo>
                <a:lnTo>
                  <a:pt x="4322705" y="0"/>
                </a:lnTo>
                <a:lnTo>
                  <a:pt x="4322705" y="4322705"/>
                </a:lnTo>
                <a:lnTo>
                  <a:pt x="0" y="4322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61129" y="8062331"/>
            <a:ext cx="2721928" cy="2721928"/>
          </a:xfrm>
          <a:custGeom>
            <a:avLst/>
            <a:gdLst/>
            <a:ahLst/>
            <a:cxnLst/>
            <a:rect r="r" b="b" t="t" l="l"/>
            <a:pathLst>
              <a:path h="2721928" w="2721928">
                <a:moveTo>
                  <a:pt x="0" y="0"/>
                </a:moveTo>
                <a:lnTo>
                  <a:pt x="2721928" y="0"/>
                </a:lnTo>
                <a:lnTo>
                  <a:pt x="2721928" y="2721928"/>
                </a:lnTo>
                <a:lnTo>
                  <a:pt x="0" y="27219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158685">
            <a:off x="13726305" y="955347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69"/>
                </a:lnTo>
                <a:lnTo>
                  <a:pt x="0" y="748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158685">
            <a:off x="3669906" y="8612221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158685">
            <a:off x="3235836" y="911683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9479" y="2311723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242801" y="6747012"/>
            <a:ext cx="3539988" cy="3539988"/>
          </a:xfrm>
          <a:custGeom>
            <a:avLst/>
            <a:gdLst/>
            <a:ahLst/>
            <a:cxnLst/>
            <a:rect r="r" b="b" t="t" l="l"/>
            <a:pathLst>
              <a:path h="3539988" w="3539988">
                <a:moveTo>
                  <a:pt x="0" y="0"/>
                </a:moveTo>
                <a:lnTo>
                  <a:pt x="3539988" y="0"/>
                </a:lnTo>
                <a:lnTo>
                  <a:pt x="3539988" y="3539988"/>
                </a:lnTo>
                <a:lnTo>
                  <a:pt x="0" y="35399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585405" y="3496689"/>
            <a:ext cx="2724292" cy="2724292"/>
          </a:xfrm>
          <a:custGeom>
            <a:avLst/>
            <a:gdLst/>
            <a:ahLst/>
            <a:cxnLst/>
            <a:rect r="r" b="b" t="t" l="l"/>
            <a:pathLst>
              <a:path h="2724292" w="2724292">
                <a:moveTo>
                  <a:pt x="0" y="0"/>
                </a:moveTo>
                <a:lnTo>
                  <a:pt x="2724292" y="0"/>
                </a:lnTo>
                <a:lnTo>
                  <a:pt x="2724292" y="2724292"/>
                </a:lnTo>
                <a:lnTo>
                  <a:pt x="0" y="27242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722407" y="6534008"/>
            <a:ext cx="4843185" cy="2724292"/>
          </a:xfrm>
          <a:custGeom>
            <a:avLst/>
            <a:gdLst/>
            <a:ahLst/>
            <a:cxnLst/>
            <a:rect r="r" b="b" t="t" l="l"/>
            <a:pathLst>
              <a:path h="2724292" w="4843185">
                <a:moveTo>
                  <a:pt x="0" y="0"/>
                </a:moveTo>
                <a:lnTo>
                  <a:pt x="4843186" y="0"/>
                </a:lnTo>
                <a:lnTo>
                  <a:pt x="4843186" y="2724292"/>
                </a:lnTo>
                <a:lnTo>
                  <a:pt x="0" y="272429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781854" y="3496689"/>
            <a:ext cx="2724292" cy="2724292"/>
          </a:xfrm>
          <a:custGeom>
            <a:avLst/>
            <a:gdLst/>
            <a:ahLst/>
            <a:cxnLst/>
            <a:rect r="r" b="b" t="t" l="l"/>
            <a:pathLst>
              <a:path h="2724292" w="2724292">
                <a:moveTo>
                  <a:pt x="0" y="0"/>
                </a:moveTo>
                <a:lnTo>
                  <a:pt x="2724292" y="0"/>
                </a:lnTo>
                <a:lnTo>
                  <a:pt x="2724292" y="2724292"/>
                </a:lnTo>
                <a:lnTo>
                  <a:pt x="0" y="272429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8125" t="0" r="-28125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978303" y="3496689"/>
            <a:ext cx="2724292" cy="2724292"/>
          </a:xfrm>
          <a:custGeom>
            <a:avLst/>
            <a:gdLst/>
            <a:ahLst/>
            <a:cxnLst/>
            <a:rect r="r" b="b" t="t" l="l"/>
            <a:pathLst>
              <a:path h="2724292" w="2724292">
                <a:moveTo>
                  <a:pt x="0" y="0"/>
                </a:moveTo>
                <a:lnTo>
                  <a:pt x="2724292" y="0"/>
                </a:lnTo>
                <a:lnTo>
                  <a:pt x="2724292" y="2724292"/>
                </a:lnTo>
                <a:lnTo>
                  <a:pt x="0" y="272429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8888" t="0" r="-38888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20392" y="672042"/>
            <a:ext cx="16847216" cy="149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8"/>
              </a:lnSpc>
            </a:pPr>
            <a:r>
              <a:rPr lang="en-US" sz="13210">
                <a:solidFill>
                  <a:srgbClr val="E993B9"/>
                </a:solidFill>
                <a:latin typeface="Mikey Mugshot"/>
                <a:ea typeface="Mikey Mugshot"/>
                <a:cs typeface="Mikey Mugshot"/>
                <a:sym typeface="Mikey Mugshot"/>
              </a:rPr>
              <a:t>Tipos de ecoetiquetados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86262" y="1963714"/>
            <a:ext cx="6315476" cy="104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9"/>
              </a:lnSpc>
              <a:spcBef>
                <a:spcPct val="0"/>
              </a:spcBef>
            </a:pPr>
            <a:r>
              <a:rPr lang="en-US" sz="6085">
                <a:solidFill>
                  <a:srgbClr val="6A7D1E"/>
                </a:solidFill>
                <a:latin typeface="Lazydog"/>
                <a:ea typeface="Lazydog"/>
                <a:cs typeface="Lazydog"/>
                <a:sym typeface="Lazydog"/>
              </a:rPr>
              <a:t>Ejemplos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7262" y="-347262"/>
            <a:ext cx="2751924" cy="2751924"/>
          </a:xfrm>
          <a:custGeom>
            <a:avLst/>
            <a:gdLst/>
            <a:ahLst/>
            <a:cxnLst/>
            <a:rect r="r" b="b" t="t" l="l"/>
            <a:pathLst>
              <a:path h="2751924" w="2751924">
                <a:moveTo>
                  <a:pt x="0" y="0"/>
                </a:moveTo>
                <a:lnTo>
                  <a:pt x="2751924" y="0"/>
                </a:lnTo>
                <a:lnTo>
                  <a:pt x="2751924" y="2751924"/>
                </a:lnTo>
                <a:lnTo>
                  <a:pt x="0" y="2751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24959" y="5886530"/>
            <a:ext cx="4769300" cy="4769300"/>
          </a:xfrm>
          <a:custGeom>
            <a:avLst/>
            <a:gdLst/>
            <a:ahLst/>
            <a:cxnLst/>
            <a:rect r="r" b="b" t="t" l="l"/>
            <a:pathLst>
              <a:path h="4769300" w="4769300">
                <a:moveTo>
                  <a:pt x="0" y="0"/>
                </a:moveTo>
                <a:lnTo>
                  <a:pt x="4769300" y="0"/>
                </a:lnTo>
                <a:lnTo>
                  <a:pt x="4769300" y="4769299"/>
                </a:lnTo>
                <a:lnTo>
                  <a:pt x="0" y="4769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81333" y="587566"/>
            <a:ext cx="4555934" cy="4555934"/>
          </a:xfrm>
          <a:custGeom>
            <a:avLst/>
            <a:gdLst/>
            <a:ahLst/>
            <a:cxnLst/>
            <a:rect r="r" b="b" t="t" l="l"/>
            <a:pathLst>
              <a:path h="4555934" w="4555934">
                <a:moveTo>
                  <a:pt x="0" y="0"/>
                </a:moveTo>
                <a:lnTo>
                  <a:pt x="4555934" y="0"/>
                </a:lnTo>
                <a:lnTo>
                  <a:pt x="4555934" y="4555934"/>
                </a:lnTo>
                <a:lnTo>
                  <a:pt x="0" y="455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158685">
            <a:off x="74024" y="2070083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158685">
            <a:off x="1285256" y="2676630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158685">
            <a:off x="17114666" y="654265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158685">
            <a:off x="16884865" y="4410747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158685">
            <a:off x="17107371" y="5020012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27092" y="6109827"/>
            <a:ext cx="4322705" cy="4322705"/>
          </a:xfrm>
          <a:custGeom>
            <a:avLst/>
            <a:gdLst/>
            <a:ahLst/>
            <a:cxnLst/>
            <a:rect r="r" b="b" t="t" l="l"/>
            <a:pathLst>
              <a:path h="4322705" w="4322705">
                <a:moveTo>
                  <a:pt x="0" y="0"/>
                </a:moveTo>
                <a:lnTo>
                  <a:pt x="4322705" y="0"/>
                </a:lnTo>
                <a:lnTo>
                  <a:pt x="4322705" y="4322705"/>
                </a:lnTo>
                <a:lnTo>
                  <a:pt x="0" y="4322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61129" y="8062331"/>
            <a:ext cx="2721928" cy="2721928"/>
          </a:xfrm>
          <a:custGeom>
            <a:avLst/>
            <a:gdLst/>
            <a:ahLst/>
            <a:cxnLst/>
            <a:rect r="r" b="b" t="t" l="l"/>
            <a:pathLst>
              <a:path h="2721928" w="2721928">
                <a:moveTo>
                  <a:pt x="0" y="0"/>
                </a:moveTo>
                <a:lnTo>
                  <a:pt x="2721928" y="0"/>
                </a:lnTo>
                <a:lnTo>
                  <a:pt x="2721928" y="2721928"/>
                </a:lnTo>
                <a:lnTo>
                  <a:pt x="0" y="27219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158685">
            <a:off x="13726305" y="955347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69"/>
                </a:lnTo>
                <a:lnTo>
                  <a:pt x="0" y="748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158685">
            <a:off x="3669906" y="8612221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158685">
            <a:off x="3235836" y="911683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9479" y="2311723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242801" y="6747012"/>
            <a:ext cx="3539988" cy="3539988"/>
          </a:xfrm>
          <a:custGeom>
            <a:avLst/>
            <a:gdLst/>
            <a:ahLst/>
            <a:cxnLst/>
            <a:rect r="r" b="b" t="t" l="l"/>
            <a:pathLst>
              <a:path h="3539988" w="3539988">
                <a:moveTo>
                  <a:pt x="0" y="0"/>
                </a:moveTo>
                <a:lnTo>
                  <a:pt x="3539988" y="0"/>
                </a:lnTo>
                <a:lnTo>
                  <a:pt x="3539988" y="3539988"/>
                </a:lnTo>
                <a:lnTo>
                  <a:pt x="0" y="35399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230307" y="3907058"/>
            <a:ext cx="7827386" cy="1490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66"/>
              </a:lnSpc>
              <a:spcBef>
                <a:spcPct val="0"/>
              </a:spcBef>
            </a:pPr>
            <a:r>
              <a:rPr lang="en-US" sz="6085">
                <a:solidFill>
                  <a:srgbClr val="6A7D1E"/>
                </a:solidFill>
                <a:latin typeface="Lazydog"/>
                <a:ea typeface="Lazydog"/>
                <a:cs typeface="Lazydog"/>
                <a:sym typeface="Lazydog"/>
              </a:rPr>
              <a:t>stakeholders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0392" y="672042"/>
            <a:ext cx="16847216" cy="283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8"/>
              </a:lnSpc>
            </a:pPr>
            <a:r>
              <a:rPr lang="en-US" sz="13210">
                <a:solidFill>
                  <a:srgbClr val="E993B9"/>
                </a:solidFill>
                <a:latin typeface="Mikey Mugshot"/>
                <a:ea typeface="Mikey Mugshot"/>
                <a:cs typeface="Mikey Mugshot"/>
                <a:sym typeface="Mikey Mugshot"/>
              </a:rPr>
              <a:t>Responsabilidad social empresarial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76435" y="5870604"/>
            <a:ext cx="5061362" cy="1870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13905" indent="-656952" lvl="1">
              <a:lnSpc>
                <a:spcPts val="7424"/>
              </a:lnSpc>
              <a:buFont typeface="Arial"/>
              <a:buChar char="•"/>
            </a:pPr>
            <a:r>
              <a:rPr lang="en-US" sz="6085">
                <a:solidFill>
                  <a:srgbClr val="6A7D1E"/>
                </a:solidFill>
                <a:latin typeface="Lazydog"/>
                <a:ea typeface="Lazydog"/>
                <a:cs typeface="Lazydog"/>
                <a:sym typeface="Lazydog"/>
              </a:rPr>
              <a:t>internos</a:t>
            </a:r>
          </a:p>
          <a:p>
            <a:pPr algn="l" marL="1313905" indent="-656952" lvl="1">
              <a:lnSpc>
                <a:spcPts val="7424"/>
              </a:lnSpc>
              <a:spcBef>
                <a:spcPct val="0"/>
              </a:spcBef>
              <a:buFont typeface="Arial"/>
              <a:buChar char="•"/>
            </a:pPr>
            <a:r>
              <a:rPr lang="en-US" sz="6085">
                <a:solidFill>
                  <a:srgbClr val="6A7D1E"/>
                </a:solidFill>
                <a:latin typeface="Lazydog"/>
                <a:ea typeface="Lazydog"/>
                <a:cs typeface="Lazydog"/>
                <a:sym typeface="Lazydog"/>
              </a:rPr>
              <a:t>externos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7262" y="-347262"/>
            <a:ext cx="2751924" cy="2751924"/>
          </a:xfrm>
          <a:custGeom>
            <a:avLst/>
            <a:gdLst/>
            <a:ahLst/>
            <a:cxnLst/>
            <a:rect r="r" b="b" t="t" l="l"/>
            <a:pathLst>
              <a:path h="2751924" w="2751924">
                <a:moveTo>
                  <a:pt x="0" y="0"/>
                </a:moveTo>
                <a:lnTo>
                  <a:pt x="2751924" y="0"/>
                </a:lnTo>
                <a:lnTo>
                  <a:pt x="2751924" y="2751924"/>
                </a:lnTo>
                <a:lnTo>
                  <a:pt x="0" y="2751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24959" y="5886530"/>
            <a:ext cx="4769300" cy="4769300"/>
          </a:xfrm>
          <a:custGeom>
            <a:avLst/>
            <a:gdLst/>
            <a:ahLst/>
            <a:cxnLst/>
            <a:rect r="r" b="b" t="t" l="l"/>
            <a:pathLst>
              <a:path h="4769300" w="4769300">
                <a:moveTo>
                  <a:pt x="0" y="0"/>
                </a:moveTo>
                <a:lnTo>
                  <a:pt x="4769300" y="0"/>
                </a:lnTo>
                <a:lnTo>
                  <a:pt x="4769300" y="4769299"/>
                </a:lnTo>
                <a:lnTo>
                  <a:pt x="0" y="4769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81333" y="587566"/>
            <a:ext cx="4555934" cy="4555934"/>
          </a:xfrm>
          <a:custGeom>
            <a:avLst/>
            <a:gdLst/>
            <a:ahLst/>
            <a:cxnLst/>
            <a:rect r="r" b="b" t="t" l="l"/>
            <a:pathLst>
              <a:path h="4555934" w="4555934">
                <a:moveTo>
                  <a:pt x="0" y="0"/>
                </a:moveTo>
                <a:lnTo>
                  <a:pt x="4555934" y="0"/>
                </a:lnTo>
                <a:lnTo>
                  <a:pt x="4555934" y="4555934"/>
                </a:lnTo>
                <a:lnTo>
                  <a:pt x="0" y="455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158685">
            <a:off x="74024" y="2070083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158685">
            <a:off x="1285256" y="2676630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158685">
            <a:off x="17114666" y="654265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158685">
            <a:off x="16884865" y="4410747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158685">
            <a:off x="17107371" y="5020012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27092" y="6109827"/>
            <a:ext cx="4322705" cy="4322705"/>
          </a:xfrm>
          <a:custGeom>
            <a:avLst/>
            <a:gdLst/>
            <a:ahLst/>
            <a:cxnLst/>
            <a:rect r="r" b="b" t="t" l="l"/>
            <a:pathLst>
              <a:path h="4322705" w="4322705">
                <a:moveTo>
                  <a:pt x="0" y="0"/>
                </a:moveTo>
                <a:lnTo>
                  <a:pt x="4322705" y="0"/>
                </a:lnTo>
                <a:lnTo>
                  <a:pt x="4322705" y="4322705"/>
                </a:lnTo>
                <a:lnTo>
                  <a:pt x="0" y="4322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61129" y="8062331"/>
            <a:ext cx="2721928" cy="2721928"/>
          </a:xfrm>
          <a:custGeom>
            <a:avLst/>
            <a:gdLst/>
            <a:ahLst/>
            <a:cxnLst/>
            <a:rect r="r" b="b" t="t" l="l"/>
            <a:pathLst>
              <a:path h="2721928" w="2721928">
                <a:moveTo>
                  <a:pt x="0" y="0"/>
                </a:moveTo>
                <a:lnTo>
                  <a:pt x="2721928" y="0"/>
                </a:lnTo>
                <a:lnTo>
                  <a:pt x="2721928" y="2721928"/>
                </a:lnTo>
                <a:lnTo>
                  <a:pt x="0" y="27219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158685">
            <a:off x="13726305" y="955347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69"/>
                </a:lnTo>
                <a:lnTo>
                  <a:pt x="0" y="748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158685">
            <a:off x="3669906" y="8612221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158685">
            <a:off x="3235836" y="911683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9479" y="2311723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242801" y="6747012"/>
            <a:ext cx="3539988" cy="3539988"/>
          </a:xfrm>
          <a:custGeom>
            <a:avLst/>
            <a:gdLst/>
            <a:ahLst/>
            <a:cxnLst/>
            <a:rect r="r" b="b" t="t" l="l"/>
            <a:pathLst>
              <a:path h="3539988" w="3539988">
                <a:moveTo>
                  <a:pt x="0" y="0"/>
                </a:moveTo>
                <a:lnTo>
                  <a:pt x="3539988" y="0"/>
                </a:lnTo>
                <a:lnTo>
                  <a:pt x="3539988" y="3539988"/>
                </a:lnTo>
                <a:lnTo>
                  <a:pt x="0" y="35399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20392" y="672042"/>
            <a:ext cx="16847216" cy="283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8"/>
              </a:lnSpc>
            </a:pPr>
            <a:r>
              <a:rPr lang="en-US" sz="13210">
                <a:solidFill>
                  <a:srgbClr val="E993B9"/>
                </a:solidFill>
                <a:latin typeface="Mikey Mugshot"/>
                <a:ea typeface="Mikey Mugshot"/>
                <a:cs typeface="Mikey Mugshot"/>
                <a:sym typeface="Mikey Mugshot"/>
              </a:rPr>
              <a:t>matriz de influencia</a:t>
            </a:r>
          </a:p>
          <a:p>
            <a:pPr algn="ctr">
              <a:lnSpc>
                <a:spcPts val="10568"/>
              </a:lnSpc>
            </a:pPr>
            <a:r>
              <a:rPr lang="en-US" sz="13210">
                <a:solidFill>
                  <a:srgbClr val="E993B9"/>
                </a:solidFill>
                <a:latin typeface="Mikey Mugshot"/>
                <a:ea typeface="Mikey Mugshot"/>
                <a:cs typeface="Mikey Mugshot"/>
                <a:sym typeface="Mikey Mugshot"/>
              </a:rPr>
              <a:t>e interés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742754" y="3385223"/>
            <a:ext cx="6802491" cy="6610670"/>
            <a:chOff x="0" y="0"/>
            <a:chExt cx="9069988" cy="881422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806916" y="644723"/>
              <a:ext cx="3052756" cy="3049494"/>
              <a:chOff x="0" y="0"/>
              <a:chExt cx="603013" cy="60236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03013" cy="602369"/>
              </a:xfrm>
              <a:custGeom>
                <a:avLst/>
                <a:gdLst/>
                <a:ahLst/>
                <a:cxnLst/>
                <a:rect r="r" b="b" t="t" l="l"/>
                <a:pathLst>
                  <a:path h="602369" w="603013">
                    <a:moveTo>
                      <a:pt x="172451" y="0"/>
                    </a:moveTo>
                    <a:lnTo>
                      <a:pt x="430562" y="0"/>
                    </a:lnTo>
                    <a:cubicBezTo>
                      <a:pt x="525805" y="0"/>
                      <a:pt x="603013" y="77209"/>
                      <a:pt x="603013" y="172451"/>
                    </a:cubicBezTo>
                    <a:lnTo>
                      <a:pt x="603013" y="429918"/>
                    </a:lnTo>
                    <a:cubicBezTo>
                      <a:pt x="603013" y="525160"/>
                      <a:pt x="525805" y="602369"/>
                      <a:pt x="430562" y="602369"/>
                    </a:cubicBezTo>
                    <a:lnTo>
                      <a:pt x="172451" y="602369"/>
                    </a:lnTo>
                    <a:cubicBezTo>
                      <a:pt x="77209" y="602369"/>
                      <a:pt x="0" y="525160"/>
                      <a:pt x="0" y="429918"/>
                    </a:cubicBezTo>
                    <a:lnTo>
                      <a:pt x="0" y="172451"/>
                    </a:lnTo>
                    <a:cubicBezTo>
                      <a:pt x="0" y="77209"/>
                      <a:pt x="77209" y="0"/>
                      <a:pt x="172451" y="0"/>
                    </a:cubicBezTo>
                    <a:close/>
                  </a:path>
                </a:pathLst>
              </a:custGeom>
              <a:solidFill>
                <a:srgbClr val="6A7D1E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66675"/>
                <a:ext cx="603013" cy="6690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  <a:spcBef>
                    <a:spcPct val="0"/>
                  </a:spcBef>
                </a:pPr>
                <a:r>
                  <a:rPr lang="en-US" sz="2999">
                    <a:solidFill>
                      <a:srgbClr val="ACDF42"/>
                    </a:solidFill>
                    <a:latin typeface="Lazydog"/>
                    <a:ea typeface="Lazydog"/>
                    <a:cs typeface="Lazydog"/>
                    <a:sym typeface="Lazydog"/>
                  </a:rPr>
                  <a:t>keep satisfied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5403611" y="3997253"/>
              <a:ext cx="3052756" cy="3049494"/>
              <a:chOff x="0" y="0"/>
              <a:chExt cx="603013" cy="60236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03013" cy="602369"/>
              </a:xfrm>
              <a:custGeom>
                <a:avLst/>
                <a:gdLst/>
                <a:ahLst/>
                <a:cxnLst/>
                <a:rect r="r" b="b" t="t" l="l"/>
                <a:pathLst>
                  <a:path h="602369" w="603013">
                    <a:moveTo>
                      <a:pt x="172451" y="0"/>
                    </a:moveTo>
                    <a:lnTo>
                      <a:pt x="430562" y="0"/>
                    </a:lnTo>
                    <a:cubicBezTo>
                      <a:pt x="525805" y="0"/>
                      <a:pt x="603013" y="77209"/>
                      <a:pt x="603013" y="172451"/>
                    </a:cubicBezTo>
                    <a:lnTo>
                      <a:pt x="603013" y="429918"/>
                    </a:lnTo>
                    <a:cubicBezTo>
                      <a:pt x="603013" y="525160"/>
                      <a:pt x="525805" y="602369"/>
                      <a:pt x="430562" y="602369"/>
                    </a:cubicBezTo>
                    <a:lnTo>
                      <a:pt x="172451" y="602369"/>
                    </a:lnTo>
                    <a:cubicBezTo>
                      <a:pt x="77209" y="602369"/>
                      <a:pt x="0" y="525160"/>
                      <a:pt x="0" y="429918"/>
                    </a:cubicBezTo>
                    <a:lnTo>
                      <a:pt x="0" y="172451"/>
                    </a:lnTo>
                    <a:cubicBezTo>
                      <a:pt x="0" y="77209"/>
                      <a:pt x="77209" y="0"/>
                      <a:pt x="172451" y="0"/>
                    </a:cubicBezTo>
                    <a:close/>
                  </a:path>
                </a:pathLst>
              </a:custGeom>
              <a:solidFill>
                <a:srgbClr val="ACDF42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66675"/>
                <a:ext cx="603013" cy="6690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  <a:spcBef>
                    <a:spcPct val="0"/>
                  </a:spcBef>
                </a:pPr>
                <a:r>
                  <a:rPr lang="en-US" sz="2999">
                    <a:solidFill>
                      <a:srgbClr val="6A7D1E"/>
                    </a:solidFill>
                    <a:latin typeface="Lazydog"/>
                    <a:ea typeface="Lazydog"/>
                    <a:cs typeface="Lazydog"/>
                    <a:sym typeface="Lazydog"/>
                  </a:rPr>
                  <a:t>keep informed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806916" y="3997253"/>
              <a:ext cx="3052756" cy="3049494"/>
              <a:chOff x="0" y="0"/>
              <a:chExt cx="603013" cy="60236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03013" cy="602369"/>
              </a:xfrm>
              <a:custGeom>
                <a:avLst/>
                <a:gdLst/>
                <a:ahLst/>
                <a:cxnLst/>
                <a:rect r="r" b="b" t="t" l="l"/>
                <a:pathLst>
                  <a:path h="602369" w="603013">
                    <a:moveTo>
                      <a:pt x="172451" y="0"/>
                    </a:moveTo>
                    <a:lnTo>
                      <a:pt x="430562" y="0"/>
                    </a:lnTo>
                    <a:cubicBezTo>
                      <a:pt x="525805" y="0"/>
                      <a:pt x="603013" y="77209"/>
                      <a:pt x="603013" y="172451"/>
                    </a:cubicBezTo>
                    <a:lnTo>
                      <a:pt x="603013" y="429918"/>
                    </a:lnTo>
                    <a:cubicBezTo>
                      <a:pt x="603013" y="525160"/>
                      <a:pt x="525805" y="602369"/>
                      <a:pt x="430562" y="602369"/>
                    </a:cubicBezTo>
                    <a:lnTo>
                      <a:pt x="172451" y="602369"/>
                    </a:lnTo>
                    <a:cubicBezTo>
                      <a:pt x="77209" y="602369"/>
                      <a:pt x="0" y="525160"/>
                      <a:pt x="0" y="429918"/>
                    </a:cubicBezTo>
                    <a:lnTo>
                      <a:pt x="0" y="172451"/>
                    </a:lnTo>
                    <a:cubicBezTo>
                      <a:pt x="0" y="77209"/>
                      <a:pt x="77209" y="0"/>
                      <a:pt x="172451" y="0"/>
                    </a:cubicBezTo>
                    <a:close/>
                  </a:path>
                </a:pathLst>
              </a:custGeom>
              <a:solidFill>
                <a:srgbClr val="FAD7E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66675"/>
                <a:ext cx="603013" cy="6690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  <a:spcBef>
                    <a:spcPct val="0"/>
                  </a:spcBef>
                </a:pPr>
                <a:r>
                  <a:rPr lang="en-US" sz="2999">
                    <a:solidFill>
                      <a:srgbClr val="E993B9"/>
                    </a:solidFill>
                    <a:latin typeface="Lazydog"/>
                    <a:ea typeface="Lazydog"/>
                    <a:cs typeface="Lazydog"/>
                    <a:sym typeface="Lazydog"/>
                  </a:rPr>
                  <a:t>monitor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5403611" y="644723"/>
              <a:ext cx="3052756" cy="3049494"/>
              <a:chOff x="0" y="0"/>
              <a:chExt cx="603013" cy="60236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03013" cy="602369"/>
              </a:xfrm>
              <a:custGeom>
                <a:avLst/>
                <a:gdLst/>
                <a:ahLst/>
                <a:cxnLst/>
                <a:rect r="r" b="b" t="t" l="l"/>
                <a:pathLst>
                  <a:path h="602369" w="603013">
                    <a:moveTo>
                      <a:pt x="172451" y="0"/>
                    </a:moveTo>
                    <a:lnTo>
                      <a:pt x="430562" y="0"/>
                    </a:lnTo>
                    <a:cubicBezTo>
                      <a:pt x="525805" y="0"/>
                      <a:pt x="603013" y="77209"/>
                      <a:pt x="603013" y="172451"/>
                    </a:cubicBezTo>
                    <a:lnTo>
                      <a:pt x="603013" y="429918"/>
                    </a:lnTo>
                    <a:cubicBezTo>
                      <a:pt x="603013" y="525160"/>
                      <a:pt x="525805" y="602369"/>
                      <a:pt x="430562" y="602369"/>
                    </a:cubicBezTo>
                    <a:lnTo>
                      <a:pt x="172451" y="602369"/>
                    </a:lnTo>
                    <a:cubicBezTo>
                      <a:pt x="77209" y="602369"/>
                      <a:pt x="0" y="525160"/>
                      <a:pt x="0" y="429918"/>
                    </a:cubicBezTo>
                    <a:lnTo>
                      <a:pt x="0" y="172451"/>
                    </a:lnTo>
                    <a:cubicBezTo>
                      <a:pt x="0" y="77209"/>
                      <a:pt x="77209" y="0"/>
                      <a:pt x="172451" y="0"/>
                    </a:cubicBezTo>
                    <a:close/>
                  </a:path>
                </a:pathLst>
              </a:custGeom>
              <a:solidFill>
                <a:srgbClr val="E993B9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66675"/>
                <a:ext cx="603013" cy="6690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  <a:spcBef>
                    <a:spcPct val="0"/>
                  </a:spcBef>
                </a:pPr>
                <a:r>
                  <a:rPr lang="en-US" sz="2999">
                    <a:solidFill>
                      <a:srgbClr val="FAD7EF"/>
                    </a:solidFill>
                    <a:latin typeface="Lazydog"/>
                    <a:ea typeface="Lazydog"/>
                    <a:cs typeface="Lazydog"/>
                    <a:sym typeface="Lazydog"/>
                  </a:rPr>
                  <a:t>manage closely</a:t>
                </a:r>
              </a:p>
            </p:txBody>
          </p:sp>
        </p:grpSp>
        <p:sp>
          <p:nvSpPr>
            <p:cNvPr name="AutoShape 31" id="31"/>
            <p:cNvSpPr/>
            <p:nvPr/>
          </p:nvSpPr>
          <p:spPr>
            <a:xfrm flipH="true">
              <a:off x="1310717" y="420642"/>
              <a:ext cx="0" cy="7164587"/>
            </a:xfrm>
            <a:prstGeom prst="line">
              <a:avLst/>
            </a:prstGeom>
            <a:ln cap="flat" w="127000">
              <a:solidFill>
                <a:srgbClr val="000000"/>
              </a:solidFill>
              <a:prstDash val="solid"/>
              <a:headEnd type="triangle" len="med" w="lg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 flipH="true">
              <a:off x="1310717" y="7523065"/>
              <a:ext cx="7466412" cy="0"/>
            </a:xfrm>
            <a:prstGeom prst="line">
              <a:avLst/>
            </a:prstGeom>
            <a:ln cap="flat" w="127000">
              <a:solidFill>
                <a:srgbClr val="000000"/>
              </a:solidFill>
              <a:prstDash val="solid"/>
              <a:headEnd type="triangle" len="med" w="lg"/>
              <a:tailEnd type="none" len="sm" w="sm"/>
            </a:ln>
          </p:spPr>
        </p:sp>
        <p:sp>
          <p:nvSpPr>
            <p:cNvPr name="TextBox 33" id="33"/>
            <p:cNvSpPr txBox="true"/>
            <p:nvPr/>
          </p:nvSpPr>
          <p:spPr>
            <a:xfrm rot="-5400000">
              <a:off x="-3657732" y="3533906"/>
              <a:ext cx="8420634" cy="1352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519"/>
                </a:lnSpc>
                <a:spcBef>
                  <a:spcPct val="0"/>
                </a:spcBef>
              </a:pPr>
              <a:r>
                <a:rPr lang="en-US" sz="6085">
                  <a:solidFill>
                    <a:srgbClr val="000000"/>
                  </a:solidFill>
                  <a:latin typeface="Lazydog"/>
                  <a:ea typeface="Lazydog"/>
                  <a:cs typeface="Lazydog"/>
                  <a:sym typeface="Lazydog"/>
                </a:rPr>
                <a:t>power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649354" y="7461404"/>
              <a:ext cx="8420634" cy="1352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519"/>
                </a:lnSpc>
                <a:spcBef>
                  <a:spcPct val="0"/>
                </a:spcBef>
              </a:pPr>
              <a:r>
                <a:rPr lang="en-US" sz="6085">
                  <a:solidFill>
                    <a:srgbClr val="000000"/>
                  </a:solidFill>
                  <a:latin typeface="Lazydog"/>
                  <a:ea typeface="Lazydog"/>
                  <a:cs typeface="Lazydog"/>
                  <a:sym typeface="Lazydog"/>
                </a:rPr>
                <a:t>interest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7262" y="-347262"/>
            <a:ext cx="2751924" cy="2751924"/>
          </a:xfrm>
          <a:custGeom>
            <a:avLst/>
            <a:gdLst/>
            <a:ahLst/>
            <a:cxnLst/>
            <a:rect r="r" b="b" t="t" l="l"/>
            <a:pathLst>
              <a:path h="2751924" w="2751924">
                <a:moveTo>
                  <a:pt x="0" y="0"/>
                </a:moveTo>
                <a:lnTo>
                  <a:pt x="2751924" y="0"/>
                </a:lnTo>
                <a:lnTo>
                  <a:pt x="2751924" y="2751924"/>
                </a:lnTo>
                <a:lnTo>
                  <a:pt x="0" y="2751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24959" y="5886530"/>
            <a:ext cx="4769300" cy="4769300"/>
          </a:xfrm>
          <a:custGeom>
            <a:avLst/>
            <a:gdLst/>
            <a:ahLst/>
            <a:cxnLst/>
            <a:rect r="r" b="b" t="t" l="l"/>
            <a:pathLst>
              <a:path h="4769300" w="4769300">
                <a:moveTo>
                  <a:pt x="0" y="0"/>
                </a:moveTo>
                <a:lnTo>
                  <a:pt x="4769300" y="0"/>
                </a:lnTo>
                <a:lnTo>
                  <a:pt x="4769300" y="4769299"/>
                </a:lnTo>
                <a:lnTo>
                  <a:pt x="0" y="4769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81333" y="587566"/>
            <a:ext cx="4555934" cy="4555934"/>
          </a:xfrm>
          <a:custGeom>
            <a:avLst/>
            <a:gdLst/>
            <a:ahLst/>
            <a:cxnLst/>
            <a:rect r="r" b="b" t="t" l="l"/>
            <a:pathLst>
              <a:path h="4555934" w="4555934">
                <a:moveTo>
                  <a:pt x="0" y="0"/>
                </a:moveTo>
                <a:lnTo>
                  <a:pt x="4555934" y="0"/>
                </a:lnTo>
                <a:lnTo>
                  <a:pt x="4555934" y="4555934"/>
                </a:lnTo>
                <a:lnTo>
                  <a:pt x="0" y="455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158685">
            <a:off x="74024" y="2070083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158685">
            <a:off x="1285256" y="2676630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158685">
            <a:off x="17114666" y="654265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158685">
            <a:off x="16884865" y="4410747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158685">
            <a:off x="17107371" y="5020012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27092" y="6109827"/>
            <a:ext cx="4322705" cy="4322705"/>
          </a:xfrm>
          <a:custGeom>
            <a:avLst/>
            <a:gdLst/>
            <a:ahLst/>
            <a:cxnLst/>
            <a:rect r="r" b="b" t="t" l="l"/>
            <a:pathLst>
              <a:path h="4322705" w="4322705">
                <a:moveTo>
                  <a:pt x="0" y="0"/>
                </a:moveTo>
                <a:lnTo>
                  <a:pt x="4322705" y="0"/>
                </a:lnTo>
                <a:lnTo>
                  <a:pt x="4322705" y="4322705"/>
                </a:lnTo>
                <a:lnTo>
                  <a:pt x="0" y="4322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61129" y="8062331"/>
            <a:ext cx="2721928" cy="2721928"/>
          </a:xfrm>
          <a:custGeom>
            <a:avLst/>
            <a:gdLst/>
            <a:ahLst/>
            <a:cxnLst/>
            <a:rect r="r" b="b" t="t" l="l"/>
            <a:pathLst>
              <a:path h="2721928" w="2721928">
                <a:moveTo>
                  <a:pt x="0" y="0"/>
                </a:moveTo>
                <a:lnTo>
                  <a:pt x="2721928" y="0"/>
                </a:lnTo>
                <a:lnTo>
                  <a:pt x="2721928" y="2721928"/>
                </a:lnTo>
                <a:lnTo>
                  <a:pt x="0" y="27219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158685">
            <a:off x="13726305" y="955347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69"/>
                </a:lnTo>
                <a:lnTo>
                  <a:pt x="0" y="748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158685">
            <a:off x="3669906" y="8612221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158685">
            <a:off x="3235836" y="911683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9479" y="2311723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242801" y="6747012"/>
            <a:ext cx="3539988" cy="3539988"/>
          </a:xfrm>
          <a:custGeom>
            <a:avLst/>
            <a:gdLst/>
            <a:ahLst/>
            <a:cxnLst/>
            <a:rect r="r" b="b" t="t" l="l"/>
            <a:pathLst>
              <a:path h="3539988" w="3539988">
                <a:moveTo>
                  <a:pt x="0" y="0"/>
                </a:moveTo>
                <a:lnTo>
                  <a:pt x="3539988" y="0"/>
                </a:lnTo>
                <a:lnTo>
                  <a:pt x="3539988" y="3539988"/>
                </a:lnTo>
                <a:lnTo>
                  <a:pt x="0" y="35399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651225" y="3893864"/>
            <a:ext cx="4985550" cy="4985550"/>
          </a:xfrm>
          <a:custGeom>
            <a:avLst/>
            <a:gdLst/>
            <a:ahLst/>
            <a:cxnLst/>
            <a:rect r="r" b="b" t="t" l="l"/>
            <a:pathLst>
              <a:path h="4985550" w="4985550">
                <a:moveTo>
                  <a:pt x="0" y="0"/>
                </a:moveTo>
                <a:lnTo>
                  <a:pt x="4985550" y="0"/>
                </a:lnTo>
                <a:lnTo>
                  <a:pt x="4985550" y="4985550"/>
                </a:lnTo>
                <a:lnTo>
                  <a:pt x="0" y="49855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20392" y="672042"/>
            <a:ext cx="16847216" cy="283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8"/>
              </a:lnSpc>
            </a:pPr>
            <a:r>
              <a:rPr lang="en-US" sz="13210">
                <a:solidFill>
                  <a:srgbClr val="E993B9"/>
                </a:solidFill>
                <a:latin typeface="Mikey Mugshot"/>
                <a:ea typeface="Mikey Mugshot"/>
                <a:cs typeface="Mikey Mugshot"/>
                <a:sym typeface="Mikey Mugshot"/>
              </a:rPr>
              <a:t>materialidad y</a:t>
            </a:r>
          </a:p>
          <a:p>
            <a:pPr algn="ctr">
              <a:lnSpc>
                <a:spcPts val="10568"/>
              </a:lnSpc>
            </a:pPr>
            <a:r>
              <a:rPr lang="en-US" sz="13210">
                <a:solidFill>
                  <a:srgbClr val="E993B9"/>
                </a:solidFill>
                <a:latin typeface="Mikey Mugshot"/>
                <a:ea typeface="Mikey Mugshot"/>
                <a:cs typeface="Mikey Mugshot"/>
                <a:sym typeface="Mikey Mugshot"/>
              </a:rPr>
              <a:t>doble materialidad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7262" y="-347262"/>
            <a:ext cx="2751924" cy="2751924"/>
          </a:xfrm>
          <a:custGeom>
            <a:avLst/>
            <a:gdLst/>
            <a:ahLst/>
            <a:cxnLst/>
            <a:rect r="r" b="b" t="t" l="l"/>
            <a:pathLst>
              <a:path h="2751924" w="2751924">
                <a:moveTo>
                  <a:pt x="0" y="0"/>
                </a:moveTo>
                <a:lnTo>
                  <a:pt x="2751924" y="0"/>
                </a:lnTo>
                <a:lnTo>
                  <a:pt x="2751924" y="2751924"/>
                </a:lnTo>
                <a:lnTo>
                  <a:pt x="0" y="2751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24959" y="5886530"/>
            <a:ext cx="4769300" cy="4769300"/>
          </a:xfrm>
          <a:custGeom>
            <a:avLst/>
            <a:gdLst/>
            <a:ahLst/>
            <a:cxnLst/>
            <a:rect r="r" b="b" t="t" l="l"/>
            <a:pathLst>
              <a:path h="4769300" w="4769300">
                <a:moveTo>
                  <a:pt x="0" y="0"/>
                </a:moveTo>
                <a:lnTo>
                  <a:pt x="4769300" y="0"/>
                </a:lnTo>
                <a:lnTo>
                  <a:pt x="4769300" y="4769299"/>
                </a:lnTo>
                <a:lnTo>
                  <a:pt x="0" y="4769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81333" y="587566"/>
            <a:ext cx="4555934" cy="4555934"/>
          </a:xfrm>
          <a:custGeom>
            <a:avLst/>
            <a:gdLst/>
            <a:ahLst/>
            <a:cxnLst/>
            <a:rect r="r" b="b" t="t" l="l"/>
            <a:pathLst>
              <a:path h="4555934" w="4555934">
                <a:moveTo>
                  <a:pt x="0" y="0"/>
                </a:moveTo>
                <a:lnTo>
                  <a:pt x="4555934" y="0"/>
                </a:lnTo>
                <a:lnTo>
                  <a:pt x="4555934" y="4555934"/>
                </a:lnTo>
                <a:lnTo>
                  <a:pt x="0" y="455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158685">
            <a:off x="74024" y="2070083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158685">
            <a:off x="1285256" y="2676630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158685">
            <a:off x="17114666" y="654265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158685">
            <a:off x="16884865" y="4410747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158685">
            <a:off x="17107371" y="5020012"/>
            <a:ext cx="1350837" cy="1350837"/>
          </a:xfrm>
          <a:custGeom>
            <a:avLst/>
            <a:gdLst/>
            <a:ahLst/>
            <a:cxnLst/>
            <a:rect r="r" b="b" t="t" l="l"/>
            <a:pathLst>
              <a:path h="1350837" w="1350837">
                <a:moveTo>
                  <a:pt x="0" y="0"/>
                </a:moveTo>
                <a:lnTo>
                  <a:pt x="1350837" y="0"/>
                </a:lnTo>
                <a:lnTo>
                  <a:pt x="1350837" y="1350837"/>
                </a:lnTo>
                <a:lnTo>
                  <a:pt x="0" y="135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27092" y="6109827"/>
            <a:ext cx="4322705" cy="4322705"/>
          </a:xfrm>
          <a:custGeom>
            <a:avLst/>
            <a:gdLst/>
            <a:ahLst/>
            <a:cxnLst/>
            <a:rect r="r" b="b" t="t" l="l"/>
            <a:pathLst>
              <a:path h="4322705" w="4322705">
                <a:moveTo>
                  <a:pt x="0" y="0"/>
                </a:moveTo>
                <a:lnTo>
                  <a:pt x="4322705" y="0"/>
                </a:lnTo>
                <a:lnTo>
                  <a:pt x="4322705" y="4322705"/>
                </a:lnTo>
                <a:lnTo>
                  <a:pt x="0" y="4322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61129" y="8062331"/>
            <a:ext cx="2721928" cy="2721928"/>
          </a:xfrm>
          <a:custGeom>
            <a:avLst/>
            <a:gdLst/>
            <a:ahLst/>
            <a:cxnLst/>
            <a:rect r="r" b="b" t="t" l="l"/>
            <a:pathLst>
              <a:path h="2721928" w="2721928">
                <a:moveTo>
                  <a:pt x="0" y="0"/>
                </a:moveTo>
                <a:lnTo>
                  <a:pt x="2721928" y="0"/>
                </a:lnTo>
                <a:lnTo>
                  <a:pt x="2721928" y="2721928"/>
                </a:lnTo>
                <a:lnTo>
                  <a:pt x="0" y="27219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158685">
            <a:off x="13726305" y="955347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69"/>
                </a:lnTo>
                <a:lnTo>
                  <a:pt x="0" y="748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158685">
            <a:off x="3669906" y="8612221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69" y="0"/>
                </a:lnTo>
                <a:lnTo>
                  <a:pt x="748869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158685">
            <a:off x="3235836" y="9116839"/>
            <a:ext cx="748870" cy="748870"/>
          </a:xfrm>
          <a:custGeom>
            <a:avLst/>
            <a:gdLst/>
            <a:ahLst/>
            <a:cxnLst/>
            <a:rect r="r" b="b" t="t" l="l"/>
            <a:pathLst>
              <a:path h="748870" w="748870">
                <a:moveTo>
                  <a:pt x="0" y="0"/>
                </a:moveTo>
                <a:lnTo>
                  <a:pt x="748870" y="0"/>
                </a:lnTo>
                <a:lnTo>
                  <a:pt x="748870" y="748870"/>
                </a:lnTo>
                <a:lnTo>
                  <a:pt x="0" y="748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9479" y="2311723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242801" y="6747012"/>
            <a:ext cx="3539988" cy="3539988"/>
          </a:xfrm>
          <a:custGeom>
            <a:avLst/>
            <a:gdLst/>
            <a:ahLst/>
            <a:cxnLst/>
            <a:rect r="r" b="b" t="t" l="l"/>
            <a:pathLst>
              <a:path h="3539988" w="3539988">
                <a:moveTo>
                  <a:pt x="0" y="0"/>
                </a:moveTo>
                <a:lnTo>
                  <a:pt x="3539988" y="0"/>
                </a:lnTo>
                <a:lnTo>
                  <a:pt x="3539988" y="3539988"/>
                </a:lnTo>
                <a:lnTo>
                  <a:pt x="0" y="35399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776910" y="4280563"/>
            <a:ext cx="3087491" cy="3087491"/>
          </a:xfrm>
          <a:custGeom>
            <a:avLst/>
            <a:gdLst/>
            <a:ahLst/>
            <a:cxnLst/>
            <a:rect r="r" b="b" t="t" l="l"/>
            <a:pathLst>
              <a:path h="3087491" w="3087491">
                <a:moveTo>
                  <a:pt x="0" y="0"/>
                </a:moveTo>
                <a:lnTo>
                  <a:pt x="3087490" y="0"/>
                </a:lnTo>
                <a:lnTo>
                  <a:pt x="3087490" y="3087491"/>
                </a:lnTo>
                <a:lnTo>
                  <a:pt x="0" y="30874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600255" y="4280563"/>
            <a:ext cx="3087491" cy="3087491"/>
          </a:xfrm>
          <a:custGeom>
            <a:avLst/>
            <a:gdLst/>
            <a:ahLst/>
            <a:cxnLst/>
            <a:rect r="r" b="b" t="t" l="l"/>
            <a:pathLst>
              <a:path h="3087491" w="3087491">
                <a:moveTo>
                  <a:pt x="0" y="0"/>
                </a:moveTo>
                <a:lnTo>
                  <a:pt x="3087490" y="0"/>
                </a:lnTo>
                <a:lnTo>
                  <a:pt x="3087490" y="3087491"/>
                </a:lnTo>
                <a:lnTo>
                  <a:pt x="0" y="308749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423600" y="4280563"/>
            <a:ext cx="3087491" cy="3087491"/>
          </a:xfrm>
          <a:custGeom>
            <a:avLst/>
            <a:gdLst/>
            <a:ahLst/>
            <a:cxnLst/>
            <a:rect r="r" b="b" t="t" l="l"/>
            <a:pathLst>
              <a:path h="3087491" w="3087491">
                <a:moveTo>
                  <a:pt x="0" y="0"/>
                </a:moveTo>
                <a:lnTo>
                  <a:pt x="3087490" y="0"/>
                </a:lnTo>
                <a:lnTo>
                  <a:pt x="3087490" y="3087491"/>
                </a:lnTo>
                <a:lnTo>
                  <a:pt x="0" y="30874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20392" y="672042"/>
            <a:ext cx="16847216" cy="283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8"/>
              </a:lnSpc>
            </a:pPr>
            <a:r>
              <a:rPr lang="en-US" sz="13210">
                <a:solidFill>
                  <a:srgbClr val="E993B9"/>
                </a:solidFill>
                <a:latin typeface="Mikey Mugshot"/>
                <a:ea typeface="Mikey Mugshot"/>
                <a:cs typeface="Mikey Mugshot"/>
                <a:sym typeface="Mikey Mugshot"/>
              </a:rPr>
              <a:t>elaboración del</a:t>
            </a:r>
          </a:p>
          <a:p>
            <a:pPr algn="ctr">
              <a:lnSpc>
                <a:spcPts val="10568"/>
              </a:lnSpc>
            </a:pPr>
            <a:r>
              <a:rPr lang="en-US" sz="13210">
                <a:solidFill>
                  <a:srgbClr val="E993B9"/>
                </a:solidFill>
                <a:latin typeface="Mikey Mugshot"/>
                <a:ea typeface="Mikey Mugshot"/>
                <a:cs typeface="Mikey Mugshot"/>
                <a:sym typeface="Mikey Mugshot"/>
              </a:rPr>
              <a:t>plan de sostenibilidad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DAHWwQTvrh8</dc:identifier>
  <dcterms:modified xsi:type="dcterms:W3CDTF">2011-08-01T06:04:30Z</dcterms:modified>
  <cp:revision>1</cp:revision>
  <dc:title>Evidencias de sostenibilidad</dc:title>
</cp:coreProperties>
</file>